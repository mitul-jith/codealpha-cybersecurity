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6315" y="1351193"/>
            <a:ext cx="6645768" cy="784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92861" y="3736365"/>
            <a:ext cx="4472677" cy="2355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3508" y="2864326"/>
            <a:ext cx="6692900" cy="1381125"/>
          </a:xfrm>
          <a:prstGeom prst="rect"/>
        </p:spPr>
        <p:txBody>
          <a:bodyPr wrap="square" lIns="0" tIns="335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45"/>
              </a:spcBef>
            </a:pPr>
            <a:r>
              <a:rPr dirty="0" sz="4450"/>
              <a:t>Phishing</a:t>
            </a:r>
            <a:r>
              <a:rPr dirty="0" sz="4450" spc="114"/>
              <a:t> </a:t>
            </a:r>
            <a:r>
              <a:rPr dirty="0" sz="4450"/>
              <a:t>Awareness</a:t>
            </a:r>
            <a:r>
              <a:rPr dirty="0" sz="4450" spc="-280"/>
              <a:t> </a:t>
            </a:r>
            <a:r>
              <a:rPr dirty="0" sz="4450" spc="-10"/>
              <a:t>Training</a:t>
            </a:r>
            <a:endParaRPr sz="4450"/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550" spc="10" b="0">
                <a:latin typeface="Adobe Clean"/>
                <a:cs typeface="Adobe Clean"/>
              </a:rPr>
              <a:t>Understanding,</a:t>
            </a:r>
            <a:r>
              <a:rPr dirty="0" sz="1550" spc="114" b="0">
                <a:latin typeface="Adobe Clean"/>
                <a:cs typeface="Adobe Clean"/>
              </a:rPr>
              <a:t> </a:t>
            </a:r>
            <a:r>
              <a:rPr dirty="0" sz="1550" spc="10" b="0">
                <a:latin typeface="Adobe Clean"/>
                <a:cs typeface="Adobe Clean"/>
              </a:rPr>
              <a:t>Identifying</a:t>
            </a:r>
            <a:r>
              <a:rPr dirty="0" sz="1550" spc="105" b="0">
                <a:latin typeface="Adobe Clean"/>
                <a:cs typeface="Adobe Clean"/>
              </a:rPr>
              <a:t> </a:t>
            </a:r>
            <a:r>
              <a:rPr dirty="0" sz="1550" spc="10" b="0">
                <a:latin typeface="Adobe Clean"/>
                <a:cs typeface="Adobe Clean"/>
              </a:rPr>
              <a:t>and</a:t>
            </a:r>
            <a:r>
              <a:rPr dirty="0" sz="1550" spc="90" b="0">
                <a:latin typeface="Adobe Clean"/>
                <a:cs typeface="Adobe Clean"/>
              </a:rPr>
              <a:t> </a:t>
            </a:r>
            <a:r>
              <a:rPr dirty="0" sz="1550" spc="10" b="0">
                <a:latin typeface="Adobe Clean"/>
                <a:cs typeface="Adobe Clean"/>
              </a:rPr>
              <a:t>Preventing</a:t>
            </a:r>
            <a:r>
              <a:rPr dirty="0" sz="1550" spc="75" b="0">
                <a:latin typeface="Adobe Clean"/>
                <a:cs typeface="Adobe Clean"/>
              </a:rPr>
              <a:t> </a:t>
            </a:r>
            <a:r>
              <a:rPr dirty="0" sz="1550" spc="10" b="0">
                <a:latin typeface="Adobe Clean"/>
                <a:cs typeface="Adobe Clean"/>
              </a:rPr>
              <a:t>Phishing</a:t>
            </a:r>
            <a:r>
              <a:rPr dirty="0" sz="1550" spc="75" b="0">
                <a:latin typeface="Adobe Clean"/>
                <a:cs typeface="Adobe Clean"/>
              </a:rPr>
              <a:t> </a:t>
            </a:r>
            <a:r>
              <a:rPr dirty="0" sz="1550" spc="-10" b="0">
                <a:latin typeface="Adobe Clean"/>
                <a:cs typeface="Adobe Clean"/>
              </a:rPr>
              <a:t>Attacks</a:t>
            </a:r>
            <a:endParaRPr sz="1550">
              <a:latin typeface="Adobe Clean"/>
              <a:cs typeface="Adobe Cle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3117" y="4524240"/>
            <a:ext cx="3194050" cy="8096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550">
                <a:latin typeface="Adobe Clean"/>
                <a:cs typeface="Adobe Clean"/>
              </a:rPr>
              <a:t>Mitul</a:t>
            </a:r>
            <a:r>
              <a:rPr dirty="0" sz="1550" spc="-35">
                <a:latin typeface="Adobe Clean"/>
                <a:cs typeface="Adobe Clean"/>
              </a:rPr>
              <a:t> </a:t>
            </a:r>
            <a:r>
              <a:rPr dirty="0" sz="1550" spc="-20">
                <a:latin typeface="Adobe Clean"/>
                <a:cs typeface="Adobe Clean"/>
              </a:rPr>
              <a:t>Jith</a:t>
            </a:r>
            <a:endParaRPr sz="15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550">
              <a:latin typeface="Adobe Clean"/>
              <a:cs typeface="Adobe Cle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550" spc="10">
                <a:latin typeface="Adobe Clean"/>
                <a:cs typeface="Adobe Clean"/>
              </a:rPr>
              <a:t>CodeAlpha</a:t>
            </a:r>
            <a:r>
              <a:rPr dirty="0" sz="1550" spc="150">
                <a:latin typeface="Adobe Clean"/>
                <a:cs typeface="Adobe Clean"/>
              </a:rPr>
              <a:t> </a:t>
            </a:r>
            <a:r>
              <a:rPr dirty="0" sz="1550" spc="10">
                <a:latin typeface="Adobe Clean"/>
                <a:cs typeface="Adobe Clean"/>
              </a:rPr>
              <a:t>Cyber</a:t>
            </a:r>
            <a:r>
              <a:rPr dirty="0" sz="1550" spc="150">
                <a:latin typeface="Adobe Clean"/>
                <a:cs typeface="Adobe Clean"/>
              </a:rPr>
              <a:t> </a:t>
            </a:r>
            <a:r>
              <a:rPr dirty="0" sz="1550" spc="10">
                <a:latin typeface="Adobe Clean"/>
                <a:cs typeface="Adobe Clean"/>
              </a:rPr>
              <a:t>Security</a:t>
            </a:r>
            <a:r>
              <a:rPr dirty="0" sz="1550" spc="120">
                <a:latin typeface="Adobe Clean"/>
                <a:cs typeface="Adobe Clean"/>
              </a:rPr>
              <a:t> </a:t>
            </a:r>
            <a:r>
              <a:rPr dirty="0" sz="1550" spc="-10">
                <a:latin typeface="Adobe Clean"/>
                <a:cs typeface="Adobe Clean"/>
              </a:rPr>
              <a:t>Internship</a:t>
            </a:r>
            <a:endParaRPr sz="15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1586865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85"/>
              <a:t> </a:t>
            </a:r>
            <a:r>
              <a:rPr dirty="0" spc="145"/>
              <a:t>is</a:t>
            </a:r>
            <a:r>
              <a:rPr dirty="0" spc="-125"/>
              <a:t> </a:t>
            </a:r>
            <a:r>
              <a:rPr dirty="0" spc="60"/>
              <a:t>Phishing?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1283" y="2488141"/>
            <a:ext cx="8230234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>
                <a:latin typeface="Adobe Clean"/>
                <a:cs typeface="Adobe Clean"/>
              </a:rPr>
              <a:t>Phishing</a:t>
            </a:r>
            <a:r>
              <a:rPr dirty="0" sz="2150" spc="40">
                <a:latin typeface="Adobe Clean"/>
                <a:cs typeface="Adobe Clean"/>
              </a:rPr>
              <a:t> </a:t>
            </a:r>
            <a:r>
              <a:rPr dirty="0" sz="2150" spc="110">
                <a:latin typeface="Adobe Clean"/>
                <a:cs typeface="Adobe Clean"/>
              </a:rPr>
              <a:t>is</a:t>
            </a:r>
            <a:r>
              <a:rPr dirty="0" sz="2150" spc="80">
                <a:latin typeface="Adobe Clean"/>
                <a:cs typeface="Adobe Clean"/>
              </a:rPr>
              <a:t> a</a:t>
            </a:r>
            <a:r>
              <a:rPr dirty="0" sz="2150" spc="100">
                <a:latin typeface="Adobe Clean"/>
                <a:cs typeface="Adobe Clean"/>
              </a:rPr>
              <a:t> </a:t>
            </a:r>
            <a:r>
              <a:rPr dirty="0" sz="2150">
                <a:latin typeface="Adobe Clean"/>
                <a:cs typeface="Adobe Clean"/>
              </a:rPr>
              <a:t>cyberattack</a:t>
            </a:r>
            <a:r>
              <a:rPr dirty="0" sz="2150" spc="70">
                <a:latin typeface="Adobe Clean"/>
                <a:cs typeface="Adobe Clean"/>
              </a:rPr>
              <a:t> </a:t>
            </a:r>
            <a:r>
              <a:rPr dirty="0" sz="2150">
                <a:latin typeface="Adobe Clean"/>
                <a:cs typeface="Adobe Clean"/>
              </a:rPr>
              <a:t>where</a:t>
            </a:r>
            <a:r>
              <a:rPr dirty="0" sz="2150" spc="75">
                <a:latin typeface="Adobe Clean"/>
                <a:cs typeface="Adobe Clean"/>
              </a:rPr>
              <a:t> </a:t>
            </a:r>
            <a:r>
              <a:rPr dirty="0" sz="2150" spc="55">
                <a:latin typeface="Adobe Clean"/>
                <a:cs typeface="Adobe Clean"/>
              </a:rPr>
              <a:t>attackers</a:t>
            </a:r>
            <a:r>
              <a:rPr dirty="0" sz="2150" spc="80">
                <a:latin typeface="Adobe Clean"/>
                <a:cs typeface="Adobe Clean"/>
              </a:rPr>
              <a:t> </a:t>
            </a:r>
            <a:r>
              <a:rPr dirty="0" sz="2150">
                <a:latin typeface="Adobe Clean"/>
                <a:cs typeface="Adobe Clean"/>
              </a:rPr>
              <a:t>impersonate</a:t>
            </a:r>
            <a:r>
              <a:rPr dirty="0" sz="2150" spc="75">
                <a:latin typeface="Adobe Clean"/>
                <a:cs typeface="Adobe Clean"/>
              </a:rPr>
              <a:t> </a:t>
            </a:r>
            <a:r>
              <a:rPr dirty="0" sz="2150" spc="50">
                <a:latin typeface="Adobe Clean"/>
                <a:cs typeface="Adobe Clean"/>
              </a:rPr>
              <a:t>trusted</a:t>
            </a:r>
            <a:r>
              <a:rPr dirty="0" sz="2150" spc="70">
                <a:latin typeface="Adobe Clean"/>
                <a:cs typeface="Adobe Clean"/>
              </a:rPr>
              <a:t> </a:t>
            </a:r>
            <a:r>
              <a:rPr dirty="0" sz="2150" spc="35">
                <a:latin typeface="Adobe Clean"/>
                <a:cs typeface="Adobe Clean"/>
              </a:rPr>
              <a:t>entities</a:t>
            </a:r>
            <a:endParaRPr sz="215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2151" y="2716714"/>
            <a:ext cx="3494404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>
                <a:latin typeface="Adobe Clean"/>
                <a:cs typeface="Adobe Clean"/>
              </a:rPr>
              <a:t>to</a:t>
            </a:r>
            <a:r>
              <a:rPr dirty="0" sz="2150" spc="-75">
                <a:latin typeface="Adobe Clean"/>
                <a:cs typeface="Adobe Clean"/>
              </a:rPr>
              <a:t> </a:t>
            </a:r>
            <a:r>
              <a:rPr dirty="0" sz="2150" spc="75">
                <a:latin typeface="Adobe Clean"/>
                <a:cs typeface="Adobe Clean"/>
              </a:rPr>
              <a:t>steal</a:t>
            </a:r>
            <a:r>
              <a:rPr dirty="0" sz="2150" spc="-70">
                <a:latin typeface="Adobe Clean"/>
                <a:cs typeface="Adobe Clean"/>
              </a:rPr>
              <a:t> </a:t>
            </a:r>
            <a:r>
              <a:rPr dirty="0" sz="2150" spc="55">
                <a:latin typeface="Adobe Clean"/>
                <a:cs typeface="Adobe Clean"/>
              </a:rPr>
              <a:t>sensitive</a:t>
            </a:r>
            <a:r>
              <a:rPr dirty="0" sz="2150" spc="-80">
                <a:latin typeface="Adobe Clean"/>
                <a:cs typeface="Adobe Clean"/>
              </a:rPr>
              <a:t> </a:t>
            </a:r>
            <a:r>
              <a:rPr dirty="0" sz="2150" spc="-10">
                <a:latin typeface="Adobe Clean"/>
                <a:cs typeface="Adobe Clean"/>
              </a:rPr>
              <a:t>information.</a:t>
            </a:r>
            <a:endParaRPr sz="215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80135" indent="-18859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080770" algn="l"/>
              </a:tabLst>
            </a:pPr>
            <a:r>
              <a:rPr dirty="0" spc="80"/>
              <a:t>Key</a:t>
            </a:r>
            <a:r>
              <a:rPr dirty="0" spc="-60"/>
              <a:t> </a:t>
            </a:r>
            <a:r>
              <a:rPr dirty="0" spc="105"/>
              <a:t>Characteristics:</a:t>
            </a:r>
          </a:p>
          <a:p>
            <a:pPr marL="1270">
              <a:lnSpc>
                <a:spcPct val="100000"/>
              </a:lnSpc>
              <a:spcBef>
                <a:spcPts val="50"/>
              </a:spcBef>
            </a:pPr>
          </a:p>
          <a:p>
            <a:pPr marL="494665" indent="-182245">
              <a:lnSpc>
                <a:spcPct val="100000"/>
              </a:lnSpc>
              <a:spcBef>
                <a:spcPts val="5"/>
              </a:spcBef>
              <a:buChar char="•"/>
              <a:tabLst>
                <a:tab pos="495300" algn="l"/>
              </a:tabLst>
            </a:pPr>
            <a:r>
              <a:rPr dirty="0" b="0">
                <a:latin typeface="Adobe Clean"/>
                <a:cs typeface="Adobe Clean"/>
              </a:rPr>
              <a:t>Pretends</a:t>
            </a:r>
            <a:r>
              <a:rPr dirty="0" spc="15" b="0">
                <a:latin typeface="Adobe Clean"/>
                <a:cs typeface="Adobe Clean"/>
              </a:rPr>
              <a:t> </a:t>
            </a:r>
            <a:r>
              <a:rPr dirty="0" b="0">
                <a:latin typeface="Adobe Clean"/>
                <a:cs typeface="Adobe Clean"/>
              </a:rPr>
              <a:t>to</a:t>
            </a:r>
            <a:r>
              <a:rPr dirty="0" spc="-5" b="0">
                <a:latin typeface="Adobe Clean"/>
                <a:cs typeface="Adobe Clean"/>
              </a:rPr>
              <a:t> </a:t>
            </a:r>
            <a:r>
              <a:rPr dirty="0" b="0">
                <a:latin typeface="Adobe Clean"/>
                <a:cs typeface="Adobe Clean"/>
              </a:rPr>
              <a:t>be</a:t>
            </a:r>
            <a:r>
              <a:rPr dirty="0" spc="35" b="0">
                <a:latin typeface="Adobe Clean"/>
                <a:cs typeface="Adobe Clean"/>
              </a:rPr>
              <a:t> </a:t>
            </a:r>
            <a:r>
              <a:rPr dirty="0" spc="80" b="0">
                <a:latin typeface="Adobe Clean"/>
                <a:cs typeface="Adobe Clean"/>
              </a:rPr>
              <a:t>a</a:t>
            </a:r>
            <a:r>
              <a:rPr dirty="0" spc="5" b="0">
                <a:latin typeface="Adobe Clean"/>
                <a:cs typeface="Adobe Clean"/>
              </a:rPr>
              <a:t> </a:t>
            </a:r>
            <a:r>
              <a:rPr dirty="0" spc="50" b="0">
                <a:latin typeface="Adobe Clean"/>
                <a:cs typeface="Adobe Clean"/>
              </a:rPr>
              <a:t>trusted</a:t>
            </a:r>
            <a:r>
              <a:rPr dirty="0" spc="5" b="0">
                <a:latin typeface="Adobe Clean"/>
                <a:cs typeface="Adobe Clean"/>
              </a:rPr>
              <a:t> </a:t>
            </a:r>
            <a:r>
              <a:rPr dirty="0" spc="55" b="0">
                <a:latin typeface="Adobe Clean"/>
                <a:cs typeface="Adobe Clean"/>
              </a:rPr>
              <a:t>source</a:t>
            </a:r>
          </a:p>
          <a:p>
            <a:pPr lvl="1" marL="965835" indent="-182245">
              <a:lnSpc>
                <a:spcPct val="100000"/>
              </a:lnSpc>
              <a:spcBef>
                <a:spcPts val="45"/>
              </a:spcBef>
              <a:buChar char="•"/>
              <a:tabLst>
                <a:tab pos="966469" algn="l"/>
              </a:tabLst>
            </a:pPr>
            <a:r>
              <a:rPr dirty="0" sz="2150" spc="75">
                <a:latin typeface="Adobe Clean"/>
                <a:cs typeface="Adobe Clean"/>
              </a:rPr>
              <a:t>Creates</a:t>
            </a:r>
            <a:r>
              <a:rPr dirty="0" sz="2150" spc="-35">
                <a:latin typeface="Adobe Clean"/>
                <a:cs typeface="Adobe Clean"/>
              </a:rPr>
              <a:t> </a:t>
            </a:r>
            <a:r>
              <a:rPr dirty="0" sz="2150">
                <a:latin typeface="Adobe Clean"/>
                <a:cs typeface="Adobe Clean"/>
              </a:rPr>
              <a:t>urgency</a:t>
            </a:r>
            <a:r>
              <a:rPr dirty="0" sz="2150" spc="-45">
                <a:latin typeface="Adobe Clean"/>
                <a:cs typeface="Adobe Clean"/>
              </a:rPr>
              <a:t> </a:t>
            </a:r>
            <a:r>
              <a:rPr dirty="0" sz="2150">
                <a:latin typeface="Adobe Clean"/>
                <a:cs typeface="Adobe Clean"/>
              </a:rPr>
              <a:t>or</a:t>
            </a:r>
            <a:r>
              <a:rPr dirty="0" sz="2150" spc="-30">
                <a:latin typeface="Adobe Clean"/>
                <a:cs typeface="Adobe Clean"/>
              </a:rPr>
              <a:t> </a:t>
            </a:r>
            <a:r>
              <a:rPr dirty="0" sz="2150" spc="-20">
                <a:latin typeface="Adobe Clean"/>
                <a:cs typeface="Adobe Clean"/>
              </a:rPr>
              <a:t>fear</a:t>
            </a:r>
            <a:endParaRPr sz="2150">
              <a:latin typeface="Adobe Clean"/>
              <a:cs typeface="Adobe Clean"/>
            </a:endParaRPr>
          </a:p>
          <a:p>
            <a:pPr marL="511175" indent="-182245">
              <a:lnSpc>
                <a:spcPct val="100000"/>
              </a:lnSpc>
              <a:spcBef>
                <a:spcPts val="50"/>
              </a:spcBef>
              <a:buChar char="•"/>
              <a:tabLst>
                <a:tab pos="511809" algn="l"/>
              </a:tabLst>
            </a:pPr>
            <a:r>
              <a:rPr dirty="0" spc="65" b="0">
                <a:latin typeface="Adobe Clean"/>
                <a:cs typeface="Adobe Clean"/>
              </a:rPr>
              <a:t>Requests</a:t>
            </a:r>
            <a:r>
              <a:rPr dirty="0" spc="-40" b="0">
                <a:latin typeface="Adobe Clean"/>
                <a:cs typeface="Adobe Clean"/>
              </a:rPr>
              <a:t> </a:t>
            </a:r>
            <a:r>
              <a:rPr dirty="0" spc="55" b="0">
                <a:latin typeface="Adobe Clean"/>
                <a:cs typeface="Adobe Clean"/>
              </a:rPr>
              <a:t>sensitive</a:t>
            </a:r>
            <a:r>
              <a:rPr dirty="0" spc="-40" b="0">
                <a:latin typeface="Adobe Clean"/>
                <a:cs typeface="Adobe Clean"/>
              </a:rPr>
              <a:t> </a:t>
            </a:r>
            <a:r>
              <a:rPr dirty="0" spc="-10" b="0">
                <a:latin typeface="Adobe Clean"/>
                <a:cs typeface="Adobe Clean"/>
              </a:rPr>
              <a:t>information</a:t>
            </a:r>
          </a:p>
          <a:p>
            <a:pPr marL="196215" indent="-182245">
              <a:lnSpc>
                <a:spcPct val="100000"/>
              </a:lnSpc>
              <a:spcBef>
                <a:spcPts val="45"/>
              </a:spcBef>
              <a:buChar char="•"/>
              <a:tabLst>
                <a:tab pos="196850" algn="l"/>
              </a:tabLst>
            </a:pPr>
            <a:r>
              <a:rPr dirty="0" spc="110" b="0">
                <a:latin typeface="Adobe Clean"/>
                <a:cs typeface="Adobe Clean"/>
              </a:rPr>
              <a:t>Uses</a:t>
            </a:r>
            <a:r>
              <a:rPr dirty="0" spc="50" b="0">
                <a:latin typeface="Adobe Clean"/>
                <a:cs typeface="Adobe Clean"/>
              </a:rPr>
              <a:t> </a:t>
            </a:r>
            <a:r>
              <a:rPr dirty="0" b="0">
                <a:latin typeface="Adobe Clean"/>
                <a:cs typeface="Adobe Clean"/>
              </a:rPr>
              <a:t>deceptive</a:t>
            </a:r>
            <a:r>
              <a:rPr dirty="0" spc="80" b="0">
                <a:latin typeface="Adobe Clean"/>
                <a:cs typeface="Adobe Clean"/>
              </a:rPr>
              <a:t> </a:t>
            </a:r>
            <a:r>
              <a:rPr dirty="0" b="0">
                <a:latin typeface="Adobe Clean"/>
                <a:cs typeface="Adobe Clean"/>
              </a:rPr>
              <a:t>links</a:t>
            </a:r>
            <a:r>
              <a:rPr dirty="0" spc="30" b="0">
                <a:latin typeface="Adobe Clean"/>
                <a:cs typeface="Adobe Clean"/>
              </a:rPr>
              <a:t> </a:t>
            </a:r>
            <a:r>
              <a:rPr dirty="0" b="0">
                <a:latin typeface="Adobe Clean"/>
                <a:cs typeface="Adobe Clean"/>
              </a:rPr>
              <a:t>or</a:t>
            </a:r>
            <a:r>
              <a:rPr dirty="0" spc="50" b="0">
                <a:latin typeface="Adobe Clean"/>
                <a:cs typeface="Adobe Clean"/>
              </a:rPr>
              <a:t> attachments</a:t>
            </a:r>
          </a:p>
          <a:p>
            <a:pPr lvl="1" marL="616585" indent="-182245">
              <a:lnSpc>
                <a:spcPct val="100000"/>
              </a:lnSpc>
              <a:spcBef>
                <a:spcPts val="50"/>
              </a:spcBef>
              <a:buChar char="•"/>
              <a:tabLst>
                <a:tab pos="617220" algn="l"/>
              </a:tabLst>
            </a:pPr>
            <a:r>
              <a:rPr dirty="0" sz="2150">
                <a:latin typeface="Adobe Clean"/>
                <a:cs typeface="Adobe Clean"/>
              </a:rPr>
              <a:t>Manipulates</a:t>
            </a:r>
            <a:r>
              <a:rPr dirty="0" sz="2150" spc="225">
                <a:latin typeface="Adobe Clean"/>
                <a:cs typeface="Adobe Clean"/>
              </a:rPr>
              <a:t> </a:t>
            </a:r>
            <a:r>
              <a:rPr dirty="0" sz="2150">
                <a:latin typeface="Adobe Clean"/>
                <a:cs typeface="Adobe Clean"/>
              </a:rPr>
              <a:t>human</a:t>
            </a:r>
            <a:r>
              <a:rPr dirty="0" sz="2150" spc="180">
                <a:latin typeface="Adobe Clean"/>
                <a:cs typeface="Adobe Clean"/>
              </a:rPr>
              <a:t> </a:t>
            </a:r>
            <a:r>
              <a:rPr dirty="0" sz="2150" spc="-10">
                <a:latin typeface="Adobe Clean"/>
                <a:cs typeface="Adobe Clean"/>
              </a:rPr>
              <a:t>behavior</a:t>
            </a:r>
            <a:endParaRPr sz="21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688975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125"/>
              <a:t> </a:t>
            </a:r>
            <a:r>
              <a:rPr dirty="0" spc="55"/>
              <a:t>Phishing</a:t>
            </a:r>
            <a:r>
              <a:rPr dirty="0" spc="-114"/>
              <a:t> </a:t>
            </a:r>
            <a:r>
              <a:rPr dirty="0" spc="145"/>
              <a:t>is</a:t>
            </a:r>
            <a:r>
              <a:rPr dirty="0" spc="-85"/>
              <a:t> </a:t>
            </a:r>
            <a:r>
              <a:rPr dirty="0" spc="35"/>
              <a:t>Dangerous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0135" y="2905730"/>
            <a:ext cx="176911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 b="1">
                <a:latin typeface="Calibri"/>
                <a:cs typeface="Calibri"/>
              </a:rPr>
              <a:t>For</a:t>
            </a:r>
            <a:r>
              <a:rPr dirty="0" sz="1450" spc="-40" b="1">
                <a:latin typeface="Calibri"/>
                <a:cs typeface="Calibri"/>
              </a:rPr>
              <a:t> </a:t>
            </a:r>
            <a:r>
              <a:rPr dirty="0" sz="1450" spc="65" b="1">
                <a:latin typeface="Calibri"/>
                <a:cs typeface="Calibri"/>
              </a:rPr>
              <a:t>Organizations</a:t>
            </a:r>
            <a:endParaRPr sz="145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 spc="55">
                <a:latin typeface="Adobe Clean"/>
                <a:cs typeface="Adobe Clean"/>
              </a:rPr>
              <a:t>Data</a:t>
            </a:r>
            <a:r>
              <a:rPr dirty="0" sz="1450" spc="-20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Breaches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35"/>
              </a:spcBef>
              <a:buChar char="•"/>
              <a:tabLst>
                <a:tab pos="139065" algn="l"/>
              </a:tabLst>
            </a:pPr>
            <a:r>
              <a:rPr dirty="0" sz="1450" spc="10">
                <a:latin typeface="Adobe Clean"/>
                <a:cs typeface="Adobe Clean"/>
              </a:rPr>
              <a:t>Reputation</a:t>
            </a:r>
            <a:r>
              <a:rPr dirty="0" sz="1450" spc="18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Damage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 spc="45">
                <a:latin typeface="Adobe Clean"/>
                <a:cs typeface="Adobe Clean"/>
              </a:rPr>
              <a:t>Financial</a:t>
            </a:r>
            <a:r>
              <a:rPr dirty="0" sz="1450" spc="-25">
                <a:latin typeface="Adobe Clean"/>
                <a:cs typeface="Adobe Clean"/>
              </a:rPr>
              <a:t> </a:t>
            </a:r>
            <a:r>
              <a:rPr dirty="0" sz="1450" spc="45">
                <a:latin typeface="Adobe Clean"/>
                <a:cs typeface="Adobe Clean"/>
              </a:rPr>
              <a:t>Impact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9656" y="2905730"/>
            <a:ext cx="145669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 b="1">
                <a:latin typeface="Calibri"/>
                <a:cs typeface="Calibri"/>
              </a:rPr>
              <a:t>For</a:t>
            </a:r>
            <a:r>
              <a:rPr dirty="0" sz="1450" spc="-40" b="1">
                <a:latin typeface="Calibri"/>
                <a:cs typeface="Calibri"/>
              </a:rPr>
              <a:t> </a:t>
            </a:r>
            <a:r>
              <a:rPr dirty="0" sz="1450" spc="70" b="1">
                <a:latin typeface="Calibri"/>
                <a:cs typeface="Calibri"/>
              </a:rPr>
              <a:t>Individuals</a:t>
            </a:r>
            <a:endParaRPr sz="145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 spc="45">
                <a:latin typeface="Adobe Clean"/>
                <a:cs typeface="Adobe Clean"/>
              </a:rPr>
              <a:t>Financial</a:t>
            </a:r>
            <a:r>
              <a:rPr dirty="0" sz="1450" spc="-25">
                <a:latin typeface="Adobe Clean"/>
                <a:cs typeface="Adobe Clean"/>
              </a:rPr>
              <a:t> </a:t>
            </a:r>
            <a:r>
              <a:rPr dirty="0" sz="1450" spc="60">
                <a:latin typeface="Adobe Clean"/>
                <a:cs typeface="Adobe Clean"/>
              </a:rPr>
              <a:t>Loss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Identity</a:t>
            </a:r>
            <a:r>
              <a:rPr dirty="0" sz="1450" spc="145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Theft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 spc="20">
                <a:latin typeface="Adobe Clean"/>
                <a:cs typeface="Adobe Clean"/>
              </a:rPr>
              <a:t>Credential</a:t>
            </a:r>
            <a:r>
              <a:rPr dirty="0" sz="1450" spc="180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Theft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9841" y="4585202"/>
            <a:ext cx="2413000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60" b="1">
                <a:latin typeface="Calibri"/>
                <a:cs typeface="Calibri"/>
              </a:rPr>
              <a:t>Why</a:t>
            </a:r>
            <a:r>
              <a:rPr dirty="0" sz="1450" spc="-45" b="1">
                <a:latin typeface="Calibri"/>
                <a:cs typeface="Calibri"/>
              </a:rPr>
              <a:t> </a:t>
            </a:r>
            <a:r>
              <a:rPr dirty="0" sz="1450" spc="70" b="1">
                <a:latin typeface="Calibri"/>
                <a:cs typeface="Calibri"/>
              </a:rPr>
              <a:t>Attackers</a:t>
            </a:r>
            <a:r>
              <a:rPr dirty="0" sz="1450" spc="-30" b="1">
                <a:latin typeface="Calibri"/>
                <a:cs typeface="Calibri"/>
              </a:rPr>
              <a:t> </a:t>
            </a:r>
            <a:r>
              <a:rPr dirty="0" sz="1450" spc="80" b="1">
                <a:latin typeface="Calibri"/>
                <a:cs typeface="Calibri"/>
              </a:rPr>
              <a:t>Like</a:t>
            </a:r>
            <a:r>
              <a:rPr dirty="0" sz="1450" spc="-10" b="1">
                <a:latin typeface="Calibri"/>
                <a:cs typeface="Calibri"/>
              </a:rPr>
              <a:t> </a:t>
            </a:r>
            <a:r>
              <a:rPr dirty="0" sz="1450" spc="75" b="1">
                <a:latin typeface="Calibri"/>
                <a:cs typeface="Calibri"/>
              </a:rPr>
              <a:t>Phishing</a:t>
            </a:r>
            <a:endParaRPr sz="1450">
              <a:latin typeface="Calibri"/>
              <a:cs typeface="Calibri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Low</a:t>
            </a:r>
            <a:r>
              <a:rPr dirty="0" sz="1450" spc="-20">
                <a:latin typeface="Adobe Clean"/>
                <a:cs typeface="Adobe Clean"/>
              </a:rPr>
              <a:t> </a:t>
            </a:r>
            <a:r>
              <a:rPr dirty="0" sz="1450" spc="60">
                <a:latin typeface="Adobe Clean"/>
                <a:cs typeface="Adobe Clean"/>
              </a:rPr>
              <a:t>Cost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Targets </a:t>
            </a:r>
            <a:r>
              <a:rPr dirty="0" sz="1450" spc="50">
                <a:latin typeface="Adobe Clean"/>
                <a:cs typeface="Adobe Clean"/>
              </a:rPr>
              <a:t>Human</a:t>
            </a:r>
            <a:r>
              <a:rPr dirty="0" sz="1450" spc="-3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Behavior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 spc="70">
                <a:latin typeface="Adobe Clean"/>
                <a:cs typeface="Adobe Clean"/>
              </a:rPr>
              <a:t>Easy</a:t>
            </a:r>
            <a:r>
              <a:rPr dirty="0" sz="1450" spc="-1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to</a:t>
            </a:r>
            <a:r>
              <a:rPr dirty="0" sz="1450" spc="-15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Scale</a:t>
            </a:r>
            <a:endParaRPr sz="14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58547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How</a:t>
            </a:r>
            <a:r>
              <a:rPr dirty="0" spc="70"/>
              <a:t> </a:t>
            </a:r>
            <a:r>
              <a:rPr dirty="0"/>
              <a:t>Attackers</a:t>
            </a:r>
            <a:r>
              <a:rPr dirty="0" spc="45"/>
              <a:t> </a:t>
            </a:r>
            <a:r>
              <a:rPr dirty="0"/>
              <a:t>Trick</a:t>
            </a:r>
            <a:r>
              <a:rPr dirty="0" spc="60"/>
              <a:t> </a:t>
            </a:r>
            <a:r>
              <a:rPr dirty="0" spc="95"/>
              <a:t>Victims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0515" y="2460732"/>
            <a:ext cx="3850640" cy="3547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20" b="1">
                <a:latin typeface="Calibri"/>
                <a:cs typeface="Calibri"/>
              </a:rPr>
              <a:t>Common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 spc="114" b="1">
                <a:latin typeface="Calibri"/>
                <a:cs typeface="Calibri"/>
              </a:rPr>
              <a:t>Social</a:t>
            </a:r>
            <a:r>
              <a:rPr dirty="0" sz="1650" spc="-50" b="1">
                <a:latin typeface="Calibri"/>
                <a:cs typeface="Calibri"/>
              </a:rPr>
              <a:t> </a:t>
            </a:r>
            <a:r>
              <a:rPr dirty="0" sz="1650" spc="65" b="1">
                <a:latin typeface="Calibri"/>
                <a:cs typeface="Calibri"/>
              </a:rPr>
              <a:t>Engineering</a:t>
            </a:r>
            <a:r>
              <a:rPr dirty="0" sz="1650" spc="-30" b="1">
                <a:latin typeface="Calibri"/>
                <a:cs typeface="Calibri"/>
              </a:rPr>
              <a:t> </a:t>
            </a:r>
            <a:r>
              <a:rPr dirty="0" sz="1650" spc="65" b="1">
                <a:latin typeface="Calibri"/>
                <a:cs typeface="Calibri"/>
              </a:rPr>
              <a:t>Techniques</a:t>
            </a:r>
            <a:endParaRPr sz="1650">
              <a:latin typeface="Calibri"/>
              <a:cs typeface="Calibri"/>
            </a:endParaRPr>
          </a:p>
          <a:p>
            <a:pPr marL="152400" indent="-139700">
              <a:lnSpc>
                <a:spcPct val="100000"/>
              </a:lnSpc>
              <a:spcBef>
                <a:spcPts val="1980"/>
              </a:spcBef>
              <a:buChar char="•"/>
              <a:tabLst>
                <a:tab pos="152400" algn="l"/>
              </a:tabLst>
            </a:pPr>
            <a:r>
              <a:rPr dirty="0" sz="1650" spc="-10">
                <a:latin typeface="Adobe Clean"/>
                <a:cs typeface="Adobe Clean"/>
              </a:rPr>
              <a:t>Urgency</a:t>
            </a:r>
            <a:endParaRPr sz="1650">
              <a:latin typeface="Adobe Clean"/>
              <a:cs typeface="Adobe Clean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650" spc="-20">
                <a:latin typeface="Adobe Clean"/>
                <a:cs typeface="Adobe Clean"/>
              </a:rPr>
              <a:t>Fear</a:t>
            </a:r>
            <a:endParaRPr sz="1650">
              <a:latin typeface="Adobe Clean"/>
              <a:cs typeface="Adobe Clean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650" spc="-10">
                <a:latin typeface="Adobe Clean"/>
                <a:cs typeface="Adobe Clean"/>
              </a:rPr>
              <a:t>Authority</a:t>
            </a:r>
            <a:endParaRPr sz="1650">
              <a:latin typeface="Adobe Clean"/>
              <a:cs typeface="Adobe Clean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650" spc="-10">
                <a:latin typeface="Adobe Clean"/>
                <a:cs typeface="Adobe Clean"/>
              </a:rPr>
              <a:t>Curiosity</a:t>
            </a:r>
            <a:endParaRPr sz="1650">
              <a:latin typeface="Adobe Clean"/>
              <a:cs typeface="Adobe Clean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650" spc="-10">
                <a:latin typeface="Adobe Clean"/>
                <a:cs typeface="Adobe Clean"/>
              </a:rPr>
              <a:t>Rewards</a:t>
            </a:r>
            <a:endParaRPr sz="1650">
              <a:latin typeface="Adobe Clean"/>
              <a:cs typeface="Adobe Clean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dirty="0" sz="1650" spc="60" b="1">
                <a:latin typeface="Calibri"/>
                <a:cs typeface="Calibri"/>
              </a:rPr>
              <a:t>Attack</a:t>
            </a:r>
            <a:r>
              <a:rPr dirty="0" sz="1650" spc="-60" b="1">
                <a:latin typeface="Calibri"/>
                <a:cs typeface="Calibri"/>
              </a:rPr>
              <a:t> </a:t>
            </a:r>
            <a:r>
              <a:rPr dirty="0" sz="1650" spc="110" b="1">
                <a:latin typeface="Calibri"/>
                <a:cs typeface="Calibri"/>
              </a:rPr>
              <a:t>Process</a:t>
            </a:r>
            <a:endParaRPr sz="165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1980"/>
              </a:spcBef>
              <a:buAutoNum type="arabicPeriod"/>
              <a:tabLst>
                <a:tab pos="225425" algn="l"/>
              </a:tabLst>
            </a:pPr>
            <a:r>
              <a:rPr dirty="0" sz="1650">
                <a:latin typeface="Adobe Clean"/>
                <a:cs typeface="Adobe Clean"/>
              </a:rPr>
              <a:t>Create</a:t>
            </a:r>
            <a:r>
              <a:rPr dirty="0" sz="1650" spc="65">
                <a:latin typeface="Adobe Clean"/>
                <a:cs typeface="Adobe Clean"/>
              </a:rPr>
              <a:t> </a:t>
            </a:r>
            <a:r>
              <a:rPr dirty="0" sz="1650" spc="70">
                <a:latin typeface="Adobe Clean"/>
                <a:cs typeface="Adobe Clean"/>
              </a:rPr>
              <a:t>a</a:t>
            </a:r>
            <a:r>
              <a:rPr dirty="0" sz="1650" spc="125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convincing</a:t>
            </a:r>
            <a:r>
              <a:rPr dirty="0" sz="1650" spc="100">
                <a:latin typeface="Adobe Clean"/>
                <a:cs typeface="Adobe Clean"/>
              </a:rPr>
              <a:t> </a:t>
            </a:r>
            <a:r>
              <a:rPr dirty="0" sz="1650" spc="50">
                <a:latin typeface="Adobe Clean"/>
                <a:cs typeface="Adobe Clean"/>
              </a:rPr>
              <a:t>message</a:t>
            </a:r>
            <a:endParaRPr sz="1650">
              <a:latin typeface="Adobe Clean"/>
              <a:cs typeface="Adobe Clean"/>
            </a:endParaRPr>
          </a:p>
          <a:p>
            <a:pPr marL="225425" indent="-212725">
              <a:lnSpc>
                <a:spcPct val="100000"/>
              </a:lnSpc>
              <a:buAutoNum type="arabicPeriod"/>
              <a:tabLst>
                <a:tab pos="225425" algn="l"/>
              </a:tabLst>
            </a:pPr>
            <a:r>
              <a:rPr dirty="0" sz="1650" spc="10">
                <a:latin typeface="Adobe Clean"/>
                <a:cs typeface="Adobe Clean"/>
              </a:rPr>
              <a:t>Gain</a:t>
            </a:r>
            <a:r>
              <a:rPr dirty="0" sz="1650" spc="70">
                <a:latin typeface="Adobe Clean"/>
                <a:cs typeface="Adobe Clean"/>
              </a:rPr>
              <a:t> </a:t>
            </a:r>
            <a:r>
              <a:rPr dirty="0" sz="1650" spc="10">
                <a:latin typeface="Adobe Clean"/>
                <a:cs typeface="Adobe Clean"/>
              </a:rPr>
              <a:t>the</a:t>
            </a:r>
            <a:r>
              <a:rPr dirty="0" sz="1650" spc="85">
                <a:latin typeface="Adobe Clean"/>
                <a:cs typeface="Adobe Clean"/>
              </a:rPr>
              <a:t> </a:t>
            </a:r>
            <a:r>
              <a:rPr dirty="0" sz="1650" spc="10">
                <a:latin typeface="Adobe Clean"/>
                <a:cs typeface="Adobe Clean"/>
              </a:rPr>
              <a:t>victim's</a:t>
            </a:r>
            <a:r>
              <a:rPr dirty="0" sz="1650" spc="35">
                <a:latin typeface="Adobe Clean"/>
                <a:cs typeface="Adobe Clean"/>
              </a:rPr>
              <a:t> </a:t>
            </a:r>
            <a:r>
              <a:rPr dirty="0" sz="1650" spc="30">
                <a:latin typeface="Adobe Clean"/>
                <a:cs typeface="Adobe Clean"/>
              </a:rPr>
              <a:t>trust</a:t>
            </a:r>
            <a:endParaRPr sz="1650">
              <a:latin typeface="Adobe Clean"/>
              <a:cs typeface="Adobe Clean"/>
            </a:endParaRPr>
          </a:p>
          <a:p>
            <a:pPr marL="225425" indent="-212725">
              <a:lnSpc>
                <a:spcPct val="100000"/>
              </a:lnSpc>
              <a:buAutoNum type="arabicPeriod"/>
              <a:tabLst>
                <a:tab pos="225425" algn="l"/>
              </a:tabLst>
            </a:pPr>
            <a:r>
              <a:rPr dirty="0" sz="1650" spc="-40">
                <a:latin typeface="Adobe Clean"/>
                <a:cs typeface="Adobe Clean"/>
              </a:rPr>
              <a:t>Trigger</a:t>
            </a:r>
            <a:r>
              <a:rPr dirty="0" sz="1650" spc="25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an</a:t>
            </a:r>
            <a:r>
              <a:rPr dirty="0" sz="1650" spc="15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emotional </a:t>
            </a:r>
            <a:r>
              <a:rPr dirty="0" sz="1650" spc="35">
                <a:latin typeface="Adobe Clean"/>
                <a:cs typeface="Adobe Clean"/>
              </a:rPr>
              <a:t>response</a:t>
            </a:r>
            <a:endParaRPr sz="1650">
              <a:latin typeface="Adobe Clean"/>
              <a:cs typeface="Adobe Clean"/>
            </a:endParaRPr>
          </a:p>
          <a:p>
            <a:pPr marL="225425" indent="-212725">
              <a:lnSpc>
                <a:spcPct val="100000"/>
              </a:lnSpc>
              <a:buAutoNum type="arabicPeriod"/>
              <a:tabLst>
                <a:tab pos="225425" algn="l"/>
              </a:tabLst>
            </a:pPr>
            <a:r>
              <a:rPr dirty="0" sz="1650" spc="50">
                <a:latin typeface="Adobe Clean"/>
                <a:cs typeface="Adobe Clean"/>
              </a:rPr>
              <a:t>Steal</a:t>
            </a:r>
            <a:r>
              <a:rPr dirty="0" sz="1650">
                <a:latin typeface="Adobe Clean"/>
                <a:cs typeface="Adobe Clean"/>
              </a:rPr>
              <a:t> information</a:t>
            </a:r>
            <a:r>
              <a:rPr dirty="0" sz="1650" spc="-6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or</a:t>
            </a:r>
            <a:r>
              <a:rPr dirty="0" sz="1650" spc="-5">
                <a:latin typeface="Adobe Clean"/>
                <a:cs typeface="Adobe Clean"/>
              </a:rPr>
              <a:t> </a:t>
            </a:r>
            <a:r>
              <a:rPr dirty="0" sz="1650" spc="-10">
                <a:latin typeface="Adobe Clean"/>
                <a:cs typeface="Adobe Clean"/>
              </a:rPr>
              <a:t>credentials</a:t>
            </a:r>
            <a:endParaRPr sz="16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673735">
              <a:lnSpc>
                <a:spcPct val="100000"/>
              </a:lnSpc>
              <a:spcBef>
                <a:spcPts val="135"/>
              </a:spcBef>
            </a:pPr>
            <a:r>
              <a:rPr dirty="0" spc="125"/>
              <a:t>Common</a:t>
            </a:r>
            <a:r>
              <a:rPr dirty="0" spc="-140"/>
              <a:t> </a:t>
            </a:r>
            <a:r>
              <a:rPr dirty="0" spc="60"/>
              <a:t>Types</a:t>
            </a:r>
            <a:r>
              <a:rPr dirty="0" spc="-140"/>
              <a:t> </a:t>
            </a:r>
            <a:r>
              <a:rPr dirty="0"/>
              <a:t>of</a:t>
            </a:r>
            <a:r>
              <a:rPr dirty="0" spc="-155"/>
              <a:t> </a:t>
            </a:r>
            <a:r>
              <a:rPr dirty="0" spc="50"/>
              <a:t>Phishing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41" y="2483110"/>
            <a:ext cx="3213100" cy="334010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201295" algn="l"/>
              </a:tabLst>
            </a:pPr>
            <a:r>
              <a:rPr dirty="0" sz="1200" spc="80" b="1">
                <a:latin typeface="Calibri"/>
                <a:cs typeface="Calibri"/>
              </a:rPr>
              <a:t>Email</a:t>
            </a:r>
            <a:r>
              <a:rPr dirty="0" sz="1200" b="1">
                <a:latin typeface="Calibri"/>
                <a:cs typeface="Calibri"/>
              </a:rPr>
              <a:t> </a:t>
            </a:r>
            <a:r>
              <a:rPr dirty="0" sz="1200" spc="60" b="1">
                <a:latin typeface="Calibri"/>
                <a:cs typeface="Calibri"/>
              </a:rPr>
              <a:t>Phishing</a:t>
            </a:r>
            <a:endParaRPr sz="12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1200" spc="10">
                <a:latin typeface="Adobe Clean"/>
                <a:cs typeface="Adobe Clean"/>
              </a:rPr>
              <a:t>Fraudulent </a:t>
            </a:r>
            <a:r>
              <a:rPr dirty="0" sz="1200" spc="50">
                <a:latin typeface="Adobe Clean"/>
                <a:cs typeface="Adobe Clean"/>
              </a:rPr>
              <a:t>emails</a:t>
            </a:r>
            <a:r>
              <a:rPr dirty="0" sz="1200" spc="15">
                <a:latin typeface="Adobe Clean"/>
                <a:cs typeface="Adobe Clean"/>
              </a:rPr>
              <a:t> </a:t>
            </a:r>
            <a:r>
              <a:rPr dirty="0" sz="1200" spc="55">
                <a:latin typeface="Adobe Clean"/>
                <a:cs typeface="Adobe Clean"/>
              </a:rPr>
              <a:t>sent</a:t>
            </a:r>
            <a:r>
              <a:rPr dirty="0" sz="1200" spc="45">
                <a:latin typeface="Adobe Clean"/>
                <a:cs typeface="Adobe Clean"/>
              </a:rPr>
              <a:t> </a:t>
            </a:r>
            <a:r>
              <a:rPr dirty="0" sz="1200" spc="10">
                <a:latin typeface="Adobe Clean"/>
                <a:cs typeface="Adobe Clean"/>
              </a:rPr>
              <a:t>to</a:t>
            </a:r>
            <a:r>
              <a:rPr dirty="0" sz="1200" spc="65">
                <a:latin typeface="Adobe Clean"/>
                <a:cs typeface="Adobe Clean"/>
              </a:rPr>
              <a:t> </a:t>
            </a:r>
            <a:r>
              <a:rPr dirty="0" sz="1200" spc="10">
                <a:latin typeface="Adobe Clean"/>
                <a:cs typeface="Adobe Clean"/>
              </a:rPr>
              <a:t>many</a:t>
            </a:r>
            <a:r>
              <a:rPr dirty="0" sz="1200" spc="20">
                <a:latin typeface="Adobe Clean"/>
                <a:cs typeface="Adobe Clean"/>
              </a:rPr>
              <a:t> </a:t>
            </a:r>
            <a:r>
              <a:rPr dirty="0" sz="1200" spc="50">
                <a:latin typeface="Adobe Clean"/>
                <a:cs typeface="Adobe Clean"/>
              </a:rPr>
              <a:t>users</a:t>
            </a:r>
            <a:endParaRPr sz="120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Arial"/>
              <a:buChar char="•"/>
            </a:pPr>
            <a:endParaRPr sz="1200">
              <a:latin typeface="Adobe Clean"/>
              <a:cs typeface="Adobe Clean"/>
            </a:endParaRPr>
          </a:p>
          <a:p>
            <a:pPr marL="201295" indent="-188595">
              <a:lnSpc>
                <a:spcPct val="100000"/>
              </a:lnSpc>
              <a:buFont typeface="Arial"/>
              <a:buChar char="•"/>
              <a:tabLst>
                <a:tab pos="201295" algn="l"/>
              </a:tabLst>
            </a:pPr>
            <a:r>
              <a:rPr dirty="0" sz="1200" spc="85" b="1">
                <a:latin typeface="Calibri"/>
                <a:cs typeface="Calibri"/>
              </a:rPr>
              <a:t>Spear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60" b="1">
                <a:latin typeface="Calibri"/>
                <a:cs typeface="Calibri"/>
              </a:rPr>
              <a:t>Phishing</a:t>
            </a:r>
            <a:endParaRPr sz="12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1200">
                <a:latin typeface="Adobe Clean"/>
                <a:cs typeface="Adobe Clean"/>
              </a:rPr>
              <a:t>Targeted</a:t>
            </a:r>
            <a:r>
              <a:rPr dirty="0" sz="1200" spc="65">
                <a:latin typeface="Adobe Clean"/>
                <a:cs typeface="Adobe Clean"/>
              </a:rPr>
              <a:t> </a:t>
            </a:r>
            <a:r>
              <a:rPr dirty="0" sz="1200" spc="55">
                <a:latin typeface="Adobe Clean"/>
                <a:cs typeface="Adobe Clean"/>
              </a:rPr>
              <a:t>attacks</a:t>
            </a:r>
            <a:r>
              <a:rPr dirty="0" sz="1200" spc="60">
                <a:latin typeface="Adobe Clean"/>
                <a:cs typeface="Adobe Clean"/>
              </a:rPr>
              <a:t> </a:t>
            </a:r>
            <a:r>
              <a:rPr dirty="0" sz="1200">
                <a:latin typeface="Adobe Clean"/>
                <a:cs typeface="Adobe Clean"/>
              </a:rPr>
              <a:t>against</a:t>
            </a:r>
            <a:r>
              <a:rPr dirty="0" sz="1200" spc="45">
                <a:latin typeface="Adobe Clean"/>
                <a:cs typeface="Adobe Clean"/>
              </a:rPr>
              <a:t> </a:t>
            </a:r>
            <a:r>
              <a:rPr dirty="0" sz="1200" spc="65">
                <a:latin typeface="Adobe Clean"/>
                <a:cs typeface="Adobe Clean"/>
              </a:rPr>
              <a:t>specific</a:t>
            </a:r>
            <a:r>
              <a:rPr dirty="0" sz="1200" spc="30">
                <a:latin typeface="Adobe Clean"/>
                <a:cs typeface="Adobe Clean"/>
              </a:rPr>
              <a:t> </a:t>
            </a:r>
            <a:r>
              <a:rPr dirty="0" sz="1200" spc="-10">
                <a:latin typeface="Adobe Clean"/>
                <a:cs typeface="Adobe Clean"/>
              </a:rPr>
              <a:t>individuals</a:t>
            </a:r>
            <a:endParaRPr sz="120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Arial"/>
              <a:buChar char="•"/>
            </a:pPr>
            <a:endParaRPr sz="1200">
              <a:latin typeface="Adobe Clean"/>
              <a:cs typeface="Adobe Clean"/>
            </a:endParaRPr>
          </a:p>
          <a:p>
            <a:pPr marL="201295" indent="-188595">
              <a:lnSpc>
                <a:spcPct val="100000"/>
              </a:lnSpc>
              <a:buFont typeface="Arial"/>
              <a:buChar char="•"/>
              <a:tabLst>
                <a:tab pos="201295" algn="l"/>
              </a:tabLst>
            </a:pPr>
            <a:r>
              <a:rPr dirty="0" sz="1200" spc="50" b="1">
                <a:latin typeface="Calibri"/>
                <a:cs typeface="Calibri"/>
              </a:rPr>
              <a:t>Whaling</a:t>
            </a:r>
            <a:endParaRPr sz="12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1200" spc="45">
                <a:latin typeface="Adobe Clean"/>
                <a:cs typeface="Adobe Clean"/>
              </a:rPr>
              <a:t>Attacks</a:t>
            </a:r>
            <a:r>
              <a:rPr dirty="0" sz="1200" spc="15">
                <a:latin typeface="Adobe Clean"/>
                <a:cs typeface="Adobe Clean"/>
              </a:rPr>
              <a:t> </a:t>
            </a:r>
            <a:r>
              <a:rPr dirty="0" sz="1200" spc="20">
                <a:latin typeface="Adobe Clean"/>
                <a:cs typeface="Adobe Clean"/>
              </a:rPr>
              <a:t>targeting</a:t>
            </a:r>
            <a:r>
              <a:rPr dirty="0" sz="1200" spc="45">
                <a:latin typeface="Adobe Clean"/>
                <a:cs typeface="Adobe Clean"/>
              </a:rPr>
              <a:t> </a:t>
            </a:r>
            <a:r>
              <a:rPr dirty="0" sz="1200" spc="20">
                <a:latin typeface="Adobe Clean"/>
                <a:cs typeface="Adobe Clean"/>
              </a:rPr>
              <a:t>executives</a:t>
            </a:r>
            <a:r>
              <a:rPr dirty="0" sz="1200" spc="35">
                <a:latin typeface="Adobe Clean"/>
                <a:cs typeface="Adobe Clean"/>
              </a:rPr>
              <a:t> </a:t>
            </a:r>
            <a:r>
              <a:rPr dirty="0" sz="1200" spc="20">
                <a:latin typeface="Adobe Clean"/>
                <a:cs typeface="Adobe Clean"/>
              </a:rPr>
              <a:t>and</a:t>
            </a:r>
            <a:r>
              <a:rPr dirty="0" sz="1200" spc="10">
                <a:latin typeface="Adobe Clean"/>
                <a:cs typeface="Adobe Clean"/>
              </a:rPr>
              <a:t> </a:t>
            </a:r>
            <a:r>
              <a:rPr dirty="0" sz="1200" spc="-10">
                <a:latin typeface="Adobe Clean"/>
                <a:cs typeface="Adobe Clean"/>
              </a:rPr>
              <a:t>managers</a:t>
            </a:r>
            <a:endParaRPr sz="120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buFont typeface="Arial"/>
              <a:buChar char="•"/>
            </a:pPr>
            <a:endParaRPr sz="1200">
              <a:latin typeface="Adobe Clean"/>
              <a:cs typeface="Adobe Clean"/>
            </a:endParaRPr>
          </a:p>
          <a:p>
            <a:pPr marL="201295" indent="-188595">
              <a:lnSpc>
                <a:spcPct val="100000"/>
              </a:lnSpc>
              <a:buFont typeface="Arial"/>
              <a:buChar char="•"/>
              <a:tabLst>
                <a:tab pos="201295" algn="l"/>
              </a:tabLst>
            </a:pPr>
            <a:r>
              <a:rPr dirty="0" sz="1200" spc="75" b="1">
                <a:latin typeface="Calibri"/>
                <a:cs typeface="Calibri"/>
              </a:rPr>
              <a:t>Smishing</a:t>
            </a:r>
            <a:endParaRPr sz="12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1200" spc="10">
                <a:latin typeface="Adobe Clean"/>
                <a:cs typeface="Adobe Clean"/>
              </a:rPr>
              <a:t>Phishing</a:t>
            </a:r>
            <a:r>
              <a:rPr dirty="0" sz="1200" spc="60">
                <a:latin typeface="Adobe Clean"/>
                <a:cs typeface="Adobe Clean"/>
              </a:rPr>
              <a:t> </a:t>
            </a:r>
            <a:r>
              <a:rPr dirty="0" sz="1200" spc="10">
                <a:latin typeface="Adobe Clean"/>
                <a:cs typeface="Adobe Clean"/>
              </a:rPr>
              <a:t>through</a:t>
            </a:r>
            <a:r>
              <a:rPr dirty="0" sz="1200" spc="85">
                <a:latin typeface="Adobe Clean"/>
                <a:cs typeface="Adobe Clean"/>
              </a:rPr>
              <a:t> </a:t>
            </a:r>
            <a:r>
              <a:rPr dirty="0" sz="1200" spc="10">
                <a:latin typeface="Adobe Clean"/>
                <a:cs typeface="Adobe Clean"/>
              </a:rPr>
              <a:t>SMS</a:t>
            </a:r>
            <a:r>
              <a:rPr dirty="0" sz="1200" spc="100">
                <a:latin typeface="Adobe Clean"/>
                <a:cs typeface="Adobe Clean"/>
              </a:rPr>
              <a:t> </a:t>
            </a:r>
            <a:r>
              <a:rPr dirty="0" sz="1200" spc="60">
                <a:latin typeface="Adobe Clean"/>
                <a:cs typeface="Adobe Clean"/>
              </a:rPr>
              <a:t>messages</a:t>
            </a:r>
            <a:endParaRPr sz="120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buFont typeface="Arial"/>
              <a:buChar char="•"/>
            </a:pPr>
            <a:endParaRPr sz="1200">
              <a:latin typeface="Adobe Clean"/>
              <a:cs typeface="Adobe Clean"/>
            </a:endParaRPr>
          </a:p>
          <a:p>
            <a:pPr marL="201295" indent="-188595">
              <a:lnSpc>
                <a:spcPct val="100000"/>
              </a:lnSpc>
              <a:buFont typeface="Arial"/>
              <a:buChar char="•"/>
              <a:tabLst>
                <a:tab pos="201295" algn="l"/>
              </a:tabLst>
            </a:pPr>
            <a:r>
              <a:rPr dirty="0" sz="1200" spc="50" b="1">
                <a:latin typeface="Calibri"/>
                <a:cs typeface="Calibri"/>
              </a:rPr>
              <a:t>Vishing</a:t>
            </a:r>
            <a:endParaRPr sz="1200">
              <a:latin typeface="Calibri"/>
              <a:cs typeface="Calibri"/>
            </a:endParaRPr>
          </a:p>
          <a:p>
            <a:pPr marL="233679" indent="-22097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33679" algn="l"/>
              </a:tabLst>
            </a:pPr>
            <a:r>
              <a:rPr dirty="0" sz="1200" spc="10">
                <a:latin typeface="Adobe Clean"/>
                <a:cs typeface="Adobe Clean"/>
              </a:rPr>
              <a:t>Phishing</a:t>
            </a:r>
            <a:r>
              <a:rPr dirty="0" sz="1200" spc="55">
                <a:latin typeface="Adobe Clean"/>
                <a:cs typeface="Adobe Clean"/>
              </a:rPr>
              <a:t> </a:t>
            </a:r>
            <a:r>
              <a:rPr dirty="0" sz="1200" spc="10">
                <a:latin typeface="Adobe Clean"/>
                <a:cs typeface="Adobe Clean"/>
              </a:rPr>
              <a:t>through</a:t>
            </a:r>
            <a:r>
              <a:rPr dirty="0" sz="1200" spc="80">
                <a:latin typeface="Adobe Clean"/>
                <a:cs typeface="Adobe Clean"/>
              </a:rPr>
              <a:t> </a:t>
            </a:r>
            <a:r>
              <a:rPr dirty="0" sz="1200" spc="10">
                <a:latin typeface="Adobe Clean"/>
                <a:cs typeface="Adobe Clean"/>
              </a:rPr>
              <a:t>phone</a:t>
            </a:r>
            <a:r>
              <a:rPr dirty="0" sz="1200" spc="50">
                <a:latin typeface="Adobe Clean"/>
                <a:cs typeface="Adobe Clean"/>
              </a:rPr>
              <a:t> </a:t>
            </a:r>
            <a:r>
              <a:rPr dirty="0" sz="1200" spc="55">
                <a:latin typeface="Adobe Clean"/>
                <a:cs typeface="Adobe Clean"/>
              </a:rPr>
              <a:t>calls</a:t>
            </a:r>
            <a:endParaRPr sz="120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1424" rIns="0" bIns="0" rtlCol="0" vert="horz">
            <a:spAutoFit/>
          </a:bodyPr>
          <a:lstStyle/>
          <a:p>
            <a:pPr marL="565785">
              <a:lnSpc>
                <a:spcPct val="100000"/>
              </a:lnSpc>
              <a:spcBef>
                <a:spcPts val="135"/>
              </a:spcBef>
            </a:pPr>
            <a:r>
              <a:rPr dirty="0"/>
              <a:t>Anatomy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120"/>
              <a:t> </a:t>
            </a:r>
            <a:r>
              <a:rPr dirty="0" spc="50"/>
              <a:t>a</a:t>
            </a:r>
            <a:r>
              <a:rPr dirty="0" spc="-114"/>
              <a:t> </a:t>
            </a:r>
            <a:r>
              <a:rPr dirty="0" spc="55"/>
              <a:t>Phishing</a:t>
            </a:r>
            <a:r>
              <a:rPr dirty="0" spc="-135"/>
              <a:t> </a:t>
            </a:r>
            <a:r>
              <a:rPr dirty="0" spc="90"/>
              <a:t>Email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2" y="2724385"/>
            <a:ext cx="3500754" cy="2908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200660" algn="l"/>
              </a:tabLst>
            </a:pPr>
            <a:r>
              <a:rPr dirty="0" sz="2300" spc="70" b="1">
                <a:latin typeface="Calibri"/>
                <a:cs typeface="Calibri"/>
              </a:rPr>
              <a:t>Warning</a:t>
            </a:r>
            <a:r>
              <a:rPr dirty="0" sz="2300" spc="-35" b="1">
                <a:latin typeface="Calibri"/>
                <a:cs typeface="Calibri"/>
              </a:rPr>
              <a:t> </a:t>
            </a:r>
            <a:r>
              <a:rPr dirty="0" sz="2300" spc="140" b="1">
                <a:latin typeface="Calibri"/>
                <a:cs typeface="Calibri"/>
              </a:rPr>
              <a:t>Signs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Arial"/>
              <a:buChar char="•"/>
            </a:pPr>
            <a:endParaRPr sz="2300">
              <a:latin typeface="Calibri"/>
              <a:cs typeface="Calibri"/>
            </a:endParaRPr>
          </a:p>
          <a:p>
            <a:pPr marL="262255" indent="-249554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62255" algn="l"/>
              </a:tabLst>
            </a:pPr>
            <a:r>
              <a:rPr dirty="0" sz="2300" spc="55">
                <a:latin typeface="Adobe Clean"/>
                <a:cs typeface="Adobe Clean"/>
              </a:rPr>
              <a:t>Generic</a:t>
            </a:r>
            <a:r>
              <a:rPr dirty="0" sz="2300" spc="-60">
                <a:latin typeface="Adobe Clean"/>
                <a:cs typeface="Adobe Clean"/>
              </a:rPr>
              <a:t> </a:t>
            </a:r>
            <a:r>
              <a:rPr dirty="0" sz="2300" spc="-10">
                <a:latin typeface="Adobe Clean"/>
                <a:cs typeface="Adobe Clean"/>
              </a:rPr>
              <a:t>Greeting</a:t>
            </a:r>
            <a:endParaRPr sz="2300">
              <a:latin typeface="Adobe Clean"/>
              <a:cs typeface="Adobe Clean"/>
            </a:endParaRPr>
          </a:p>
          <a:p>
            <a:pPr marL="262255" indent="-249554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62255" algn="l"/>
              </a:tabLst>
            </a:pPr>
            <a:r>
              <a:rPr dirty="0" sz="2300">
                <a:latin typeface="Adobe Clean"/>
                <a:cs typeface="Adobe Clean"/>
              </a:rPr>
              <a:t>Urgent</a:t>
            </a:r>
            <a:r>
              <a:rPr dirty="0" sz="2300" spc="-85">
                <a:latin typeface="Adobe Clean"/>
                <a:cs typeface="Adobe Clean"/>
              </a:rPr>
              <a:t> </a:t>
            </a:r>
            <a:r>
              <a:rPr dirty="0" sz="2300" spc="-10">
                <a:latin typeface="Adobe Clean"/>
                <a:cs typeface="Adobe Clean"/>
              </a:rPr>
              <a:t>Language</a:t>
            </a:r>
            <a:endParaRPr sz="2300">
              <a:latin typeface="Adobe Clean"/>
              <a:cs typeface="Adobe Clean"/>
            </a:endParaRPr>
          </a:p>
          <a:p>
            <a:pPr marL="262255" indent="-249554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62255" algn="l"/>
              </a:tabLst>
            </a:pPr>
            <a:r>
              <a:rPr dirty="0" sz="2300" spc="95">
                <a:latin typeface="Adobe Clean"/>
                <a:cs typeface="Adobe Clean"/>
              </a:rPr>
              <a:t>Suspicious</a:t>
            </a:r>
            <a:r>
              <a:rPr dirty="0" sz="2300" spc="-75">
                <a:latin typeface="Adobe Clean"/>
                <a:cs typeface="Adobe Clean"/>
              </a:rPr>
              <a:t> </a:t>
            </a:r>
            <a:r>
              <a:rPr dirty="0" sz="2300" spc="40">
                <a:latin typeface="Adobe Clean"/>
                <a:cs typeface="Adobe Clean"/>
              </a:rPr>
              <a:t>Sender</a:t>
            </a:r>
            <a:endParaRPr sz="2300">
              <a:latin typeface="Adobe Clean"/>
              <a:cs typeface="Adobe Clean"/>
            </a:endParaRPr>
          </a:p>
          <a:p>
            <a:pPr marL="262255" indent="-249554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62255" algn="l"/>
              </a:tabLst>
            </a:pPr>
            <a:r>
              <a:rPr dirty="0" sz="2300" spc="95">
                <a:latin typeface="Adobe Clean"/>
                <a:cs typeface="Adobe Clean"/>
              </a:rPr>
              <a:t>Suspicious</a:t>
            </a:r>
            <a:r>
              <a:rPr dirty="0" sz="2300" spc="-75">
                <a:latin typeface="Adobe Clean"/>
                <a:cs typeface="Adobe Clean"/>
              </a:rPr>
              <a:t> </a:t>
            </a:r>
            <a:r>
              <a:rPr dirty="0" sz="2300" spc="-10">
                <a:latin typeface="Adobe Clean"/>
                <a:cs typeface="Adobe Clean"/>
              </a:rPr>
              <a:t>Links</a:t>
            </a:r>
            <a:endParaRPr sz="2300">
              <a:latin typeface="Adobe Clean"/>
              <a:cs typeface="Adobe Clean"/>
            </a:endParaRPr>
          </a:p>
          <a:p>
            <a:pPr marL="262255" indent="-249554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62255" algn="l"/>
              </a:tabLst>
            </a:pPr>
            <a:r>
              <a:rPr dirty="0" sz="2300">
                <a:latin typeface="Adobe Clean"/>
                <a:cs typeface="Adobe Clean"/>
              </a:rPr>
              <a:t>Unexpected</a:t>
            </a:r>
            <a:r>
              <a:rPr dirty="0" sz="2300" spc="270">
                <a:latin typeface="Adobe Clean"/>
                <a:cs typeface="Adobe Clean"/>
              </a:rPr>
              <a:t> </a:t>
            </a:r>
            <a:r>
              <a:rPr dirty="0" sz="2300" spc="40">
                <a:latin typeface="Adobe Clean"/>
                <a:cs typeface="Adobe Clean"/>
              </a:rPr>
              <a:t>Attachments</a:t>
            </a:r>
            <a:endParaRPr sz="2300">
              <a:latin typeface="Adobe Clean"/>
              <a:cs typeface="Adobe Cle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0123" y="2965704"/>
            <a:ext cx="5332475" cy="2062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1424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Fake</a:t>
            </a:r>
            <a:r>
              <a:rPr dirty="0" spc="-75"/>
              <a:t> </a:t>
            </a:r>
            <a:r>
              <a:rPr dirty="0" spc="70"/>
              <a:t>Websites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Login</a:t>
            </a:r>
            <a:r>
              <a:rPr dirty="0" spc="-70"/>
              <a:t> </a:t>
            </a:r>
            <a:r>
              <a:rPr dirty="0" spc="90"/>
              <a:t>Pages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7815" y="2728912"/>
            <a:ext cx="4120515" cy="2223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00660" algn="l"/>
              </a:tabLst>
            </a:pPr>
            <a:r>
              <a:rPr dirty="0" sz="1950" spc="65" b="1">
                <a:latin typeface="Calibri"/>
                <a:cs typeface="Calibri"/>
              </a:rPr>
              <a:t>Warning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spc="130" b="1">
                <a:latin typeface="Calibri"/>
                <a:cs typeface="Calibri"/>
              </a:rPr>
              <a:t>Signs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Arial"/>
              <a:buChar char="•"/>
            </a:pPr>
            <a:endParaRPr sz="1950">
              <a:latin typeface="Calibri"/>
              <a:cs typeface="Calibri"/>
            </a:endParaRPr>
          </a:p>
          <a:p>
            <a:pPr marL="253365" indent="-2406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1950">
                <a:latin typeface="Adobe Clean"/>
                <a:cs typeface="Adobe Clean"/>
              </a:rPr>
              <a:t>Looks</a:t>
            </a:r>
            <a:r>
              <a:rPr dirty="0" sz="1950" spc="50">
                <a:latin typeface="Adobe Clean"/>
                <a:cs typeface="Adobe Clean"/>
              </a:rPr>
              <a:t> </a:t>
            </a:r>
            <a:r>
              <a:rPr dirty="0" sz="1950" spc="55">
                <a:latin typeface="Adobe Clean"/>
                <a:cs typeface="Adobe Clean"/>
              </a:rPr>
              <a:t>similar</a:t>
            </a:r>
            <a:r>
              <a:rPr dirty="0" sz="1950" spc="60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to</a:t>
            </a:r>
            <a:r>
              <a:rPr dirty="0" sz="1950" spc="65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legitimate</a:t>
            </a:r>
            <a:r>
              <a:rPr dirty="0" sz="1950" spc="55">
                <a:latin typeface="Adobe Clean"/>
                <a:cs typeface="Adobe Clean"/>
              </a:rPr>
              <a:t> websites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53365" indent="-2406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1950" spc="75">
                <a:latin typeface="Adobe Clean"/>
                <a:cs typeface="Adobe Clean"/>
              </a:rPr>
              <a:t>Requests</a:t>
            </a:r>
            <a:r>
              <a:rPr dirty="0" sz="1950" spc="-45">
                <a:latin typeface="Adobe Clean"/>
                <a:cs typeface="Adobe Clean"/>
              </a:rPr>
              <a:t> </a:t>
            </a:r>
            <a:r>
              <a:rPr dirty="0" sz="1950" spc="45">
                <a:latin typeface="Adobe Clean"/>
                <a:cs typeface="Adobe Clean"/>
              </a:rPr>
              <a:t>credentials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53365" indent="-240665">
              <a:lnSpc>
                <a:spcPct val="100000"/>
              </a:lnSpc>
              <a:buFont typeface="Arial"/>
              <a:buChar char="•"/>
              <a:tabLst>
                <a:tab pos="253365" algn="l"/>
              </a:tabLst>
            </a:pPr>
            <a:r>
              <a:rPr dirty="0" sz="1950" spc="120">
                <a:latin typeface="Adobe Clean"/>
                <a:cs typeface="Adobe Clean"/>
              </a:rPr>
              <a:t>Uses</a:t>
            </a:r>
            <a:r>
              <a:rPr dirty="0" sz="1950" spc="-30">
                <a:latin typeface="Adobe Clean"/>
                <a:cs typeface="Adobe Clean"/>
              </a:rPr>
              <a:t> </a:t>
            </a:r>
            <a:r>
              <a:rPr dirty="0" sz="1950" spc="90">
                <a:latin typeface="Adobe Clean"/>
                <a:cs typeface="Adobe Clean"/>
              </a:rPr>
              <a:t>suspicious</a:t>
            </a:r>
            <a:r>
              <a:rPr dirty="0" sz="1950" spc="-30">
                <a:latin typeface="Adobe Clean"/>
                <a:cs typeface="Adobe Clean"/>
              </a:rPr>
              <a:t> </a:t>
            </a:r>
            <a:r>
              <a:rPr dirty="0" sz="1950" spc="30">
                <a:latin typeface="Adobe Clean"/>
                <a:cs typeface="Adobe Clean"/>
              </a:rPr>
              <a:t>URLs</a:t>
            </a:r>
            <a:endParaRPr sz="195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815" y="5257251"/>
            <a:ext cx="34505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53365" algn="l"/>
              </a:tabLst>
            </a:pPr>
            <a:r>
              <a:rPr dirty="0" sz="1950">
                <a:latin typeface="Adobe Clean"/>
                <a:cs typeface="Adobe Clean"/>
              </a:rPr>
              <a:t>Designed</a:t>
            </a:r>
            <a:r>
              <a:rPr dirty="0" sz="1950" spc="65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to</a:t>
            </a:r>
            <a:r>
              <a:rPr dirty="0" sz="1950" spc="70">
                <a:latin typeface="Adobe Clean"/>
                <a:cs typeface="Adobe Clean"/>
              </a:rPr>
              <a:t> </a:t>
            </a:r>
            <a:r>
              <a:rPr dirty="0" sz="1950" spc="75">
                <a:latin typeface="Adobe Clean"/>
                <a:cs typeface="Adobe Clean"/>
              </a:rPr>
              <a:t>steal </a:t>
            </a:r>
            <a:r>
              <a:rPr dirty="0" sz="1950" spc="-10">
                <a:latin typeface="Adobe Clean"/>
                <a:cs typeface="Adobe Clean"/>
              </a:rPr>
              <a:t>information</a:t>
            </a:r>
            <a:endParaRPr sz="1950">
              <a:latin typeface="Adobe Clean"/>
              <a:cs typeface="Adobe Cle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6152" y="2924556"/>
            <a:ext cx="4521708" cy="24270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93775" y="5392855"/>
            <a:ext cx="1653539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10">
                <a:latin typeface="Adobe Clean"/>
                <a:cs typeface="Adobe Clean"/>
              </a:rPr>
              <a:t>Educational</a:t>
            </a:r>
            <a:r>
              <a:rPr dirty="0" sz="900" spc="90">
                <a:latin typeface="Adobe Clean"/>
                <a:cs typeface="Adobe Clean"/>
              </a:rPr>
              <a:t> </a:t>
            </a:r>
            <a:r>
              <a:rPr dirty="0" sz="900" spc="10">
                <a:latin typeface="Adobe Clean"/>
                <a:cs typeface="Adobe Clean"/>
              </a:rPr>
              <a:t>Demonstration</a:t>
            </a:r>
            <a:r>
              <a:rPr dirty="0" sz="900" spc="55">
                <a:latin typeface="Adobe Clean"/>
                <a:cs typeface="Adobe Clean"/>
              </a:rPr>
              <a:t> </a:t>
            </a:r>
            <a:r>
              <a:rPr dirty="0" sz="900" spc="-20">
                <a:latin typeface="Adobe Clean"/>
                <a:cs typeface="Adobe Clean"/>
              </a:rPr>
              <a:t>Only</a:t>
            </a:r>
            <a:endParaRPr sz="90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315595">
              <a:lnSpc>
                <a:spcPct val="100000"/>
              </a:lnSpc>
              <a:spcBef>
                <a:spcPts val="135"/>
              </a:spcBef>
            </a:pPr>
            <a:r>
              <a:rPr dirty="0" spc="114"/>
              <a:t>Real-</a:t>
            </a:r>
            <a:r>
              <a:rPr dirty="0"/>
              <a:t>World</a:t>
            </a:r>
            <a:r>
              <a:rPr dirty="0" spc="-155"/>
              <a:t> </a:t>
            </a:r>
            <a:r>
              <a:rPr dirty="0" spc="60"/>
              <a:t>Phishing</a:t>
            </a:r>
            <a:r>
              <a:rPr dirty="0" spc="-155"/>
              <a:t> </a:t>
            </a:r>
            <a:r>
              <a:rPr dirty="0" spc="11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09" y="3149609"/>
            <a:ext cx="97980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95" b="1">
                <a:latin typeface="Calibri"/>
                <a:cs typeface="Calibri"/>
              </a:rPr>
              <a:t>Bank</a:t>
            </a:r>
            <a:r>
              <a:rPr dirty="0" sz="1450" spc="-40" b="1">
                <a:latin typeface="Calibri"/>
                <a:cs typeface="Calibri"/>
              </a:rPr>
              <a:t> </a:t>
            </a:r>
            <a:r>
              <a:rPr dirty="0" sz="1450" spc="130" b="1">
                <a:latin typeface="Calibri"/>
                <a:cs typeface="Calibri"/>
              </a:rPr>
              <a:t>Scam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3909" y="3602211"/>
            <a:ext cx="2189480" cy="705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Fake</a:t>
            </a:r>
            <a:r>
              <a:rPr dirty="0" sz="1450" spc="40">
                <a:latin typeface="Adobe Clean"/>
                <a:cs typeface="Adobe Clean"/>
              </a:rPr>
              <a:t> </a:t>
            </a:r>
            <a:r>
              <a:rPr dirty="0" sz="1450" spc="65">
                <a:latin typeface="Adobe Clean"/>
                <a:cs typeface="Adobe Clean"/>
              </a:rPr>
              <a:t>account</a:t>
            </a:r>
            <a:r>
              <a:rPr dirty="0" sz="1450" spc="1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verification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 spc="65">
                <a:latin typeface="Adobe Clean"/>
                <a:cs typeface="Adobe Clean"/>
              </a:rPr>
              <a:t>Creates</a:t>
            </a:r>
            <a:r>
              <a:rPr dirty="0" sz="1450" spc="-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urgency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35"/>
              </a:spcBef>
              <a:buChar char="•"/>
              <a:tabLst>
                <a:tab pos="139065" algn="l"/>
              </a:tabLst>
            </a:pPr>
            <a:r>
              <a:rPr dirty="0" sz="1450" spc="65">
                <a:latin typeface="Adobe Clean"/>
                <a:cs typeface="Adobe Clean"/>
              </a:rPr>
              <a:t>Requests</a:t>
            </a:r>
            <a:r>
              <a:rPr dirty="0" sz="1450" spc="-5">
                <a:latin typeface="Adobe Clean"/>
                <a:cs typeface="Adobe Clean"/>
              </a:rPr>
              <a:t> </a:t>
            </a:r>
            <a:r>
              <a:rPr dirty="0" sz="1450" spc="40">
                <a:latin typeface="Adobe Clean"/>
                <a:cs typeface="Adobe Clean"/>
              </a:rPr>
              <a:t>credentials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6221" y="3146564"/>
            <a:ext cx="137096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65" b="1">
                <a:latin typeface="Calibri"/>
                <a:cs typeface="Calibri"/>
              </a:rPr>
              <a:t>Microsoft</a:t>
            </a:r>
            <a:r>
              <a:rPr dirty="0" sz="1450" spc="-25" b="1">
                <a:latin typeface="Calibri"/>
                <a:cs typeface="Calibri"/>
              </a:rPr>
              <a:t> </a:t>
            </a:r>
            <a:r>
              <a:rPr dirty="0" sz="1450" spc="135" b="1">
                <a:latin typeface="Calibri"/>
                <a:cs typeface="Calibri"/>
              </a:rPr>
              <a:t>Scam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6221" y="3599166"/>
            <a:ext cx="2143125" cy="705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 spc="45">
                <a:latin typeface="Adobe Clean"/>
                <a:cs typeface="Adobe Clean"/>
              </a:rPr>
              <a:t>Password</a:t>
            </a:r>
            <a:r>
              <a:rPr dirty="0" sz="1450" spc="3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expiry</a:t>
            </a:r>
            <a:r>
              <a:rPr dirty="0" sz="1450" spc="-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warning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Fake</a:t>
            </a:r>
            <a:r>
              <a:rPr dirty="0" sz="1450" spc="5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login</a:t>
            </a:r>
            <a:r>
              <a:rPr dirty="0" sz="1450" spc="25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page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35"/>
              </a:spcBef>
              <a:buChar char="•"/>
              <a:tabLst>
                <a:tab pos="139065" algn="l"/>
              </a:tabLst>
            </a:pPr>
            <a:r>
              <a:rPr dirty="0" sz="1450" spc="20">
                <a:latin typeface="Adobe Clean"/>
                <a:cs typeface="Adobe Clean"/>
              </a:rPr>
              <a:t>Credential</a:t>
            </a:r>
            <a:r>
              <a:rPr dirty="0" sz="1450" spc="120">
                <a:latin typeface="Adobe Clean"/>
                <a:cs typeface="Adobe Clean"/>
              </a:rPr>
              <a:t> </a:t>
            </a:r>
            <a:r>
              <a:rPr dirty="0" sz="1450" spc="20">
                <a:latin typeface="Adobe Clean"/>
                <a:cs typeface="Adobe Clean"/>
              </a:rPr>
              <a:t>theft</a:t>
            </a:r>
            <a:r>
              <a:rPr dirty="0" sz="1450" spc="14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attempt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5958" y="3146564"/>
            <a:ext cx="125603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0" b="1">
                <a:latin typeface="Calibri"/>
                <a:cs typeface="Calibri"/>
              </a:rPr>
              <a:t>Delivery</a:t>
            </a:r>
            <a:r>
              <a:rPr dirty="0" sz="1450" spc="-20" b="1">
                <a:latin typeface="Calibri"/>
                <a:cs typeface="Calibri"/>
              </a:rPr>
              <a:t> </a:t>
            </a:r>
            <a:r>
              <a:rPr dirty="0" sz="1450" spc="130" b="1">
                <a:latin typeface="Calibri"/>
                <a:cs typeface="Calibri"/>
              </a:rPr>
              <a:t>Scam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5958" y="3599166"/>
            <a:ext cx="2227580" cy="705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Fake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 spc="45">
                <a:latin typeface="Adobe Clean"/>
                <a:cs typeface="Adobe Clean"/>
              </a:rPr>
              <a:t>package</a:t>
            </a:r>
            <a:r>
              <a:rPr dirty="0" sz="145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notification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Delivery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reschedule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lure</a:t>
            </a:r>
            <a:endParaRPr sz="1450">
              <a:latin typeface="Adobe Clean"/>
              <a:cs typeface="Adobe Clean"/>
            </a:endParaRPr>
          </a:p>
          <a:p>
            <a:pPr marL="139065" indent="-126364">
              <a:lnSpc>
                <a:spcPct val="100000"/>
              </a:lnSpc>
              <a:spcBef>
                <a:spcPts val="35"/>
              </a:spcBef>
              <a:buChar char="•"/>
              <a:tabLst>
                <a:tab pos="139065" algn="l"/>
              </a:tabLst>
            </a:pPr>
            <a:r>
              <a:rPr dirty="0" sz="1450" spc="75">
                <a:latin typeface="Adobe Clean"/>
                <a:cs typeface="Adobe Clean"/>
              </a:rPr>
              <a:t>Suspicious</a:t>
            </a:r>
            <a:r>
              <a:rPr dirty="0" sz="1450" spc="-65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links</a:t>
            </a:r>
            <a:endParaRPr sz="14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How</a:t>
            </a:r>
            <a:r>
              <a:rPr dirty="0" spc="-120"/>
              <a:t> </a:t>
            </a:r>
            <a:r>
              <a:rPr dirty="0" spc="-30"/>
              <a:t>to</a:t>
            </a:r>
            <a:r>
              <a:rPr dirty="0" spc="-130"/>
              <a:t> </a:t>
            </a:r>
            <a:r>
              <a:rPr dirty="0"/>
              <a:t>Identify</a:t>
            </a:r>
            <a:r>
              <a:rPr dirty="0" spc="-150"/>
              <a:t> </a:t>
            </a:r>
            <a:r>
              <a:rPr dirty="0" spc="60"/>
              <a:t>Phishing</a:t>
            </a:r>
            <a:r>
              <a:rPr dirty="0" spc="-140"/>
              <a:t> </a:t>
            </a:r>
            <a:r>
              <a:rPr dirty="0" spc="-10"/>
              <a:t>Attempts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31" y="2495748"/>
            <a:ext cx="3816985" cy="34867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00660" algn="l"/>
              </a:tabLst>
            </a:pPr>
            <a:r>
              <a:rPr dirty="0" sz="1950" spc="235">
                <a:latin typeface="Adobe Clean"/>
                <a:cs typeface="Adobe Clean"/>
              </a:rPr>
              <a:t>✓</a:t>
            </a:r>
            <a:r>
              <a:rPr dirty="0" sz="1950" spc="-40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Verify</a:t>
            </a:r>
            <a:r>
              <a:rPr dirty="0" sz="1950" spc="-65">
                <a:latin typeface="Adobe Clean"/>
                <a:cs typeface="Adobe Clean"/>
              </a:rPr>
              <a:t> </a:t>
            </a:r>
            <a:r>
              <a:rPr dirty="0" sz="1950" spc="55">
                <a:latin typeface="Adobe Clean"/>
                <a:cs typeface="Adobe Clean"/>
              </a:rPr>
              <a:t>sender</a:t>
            </a:r>
            <a:r>
              <a:rPr dirty="0" sz="1950" spc="-30">
                <a:latin typeface="Adobe Clean"/>
                <a:cs typeface="Adobe Clean"/>
              </a:rPr>
              <a:t> </a:t>
            </a:r>
            <a:r>
              <a:rPr dirty="0" sz="1950" spc="70">
                <a:latin typeface="Adobe Clean"/>
                <a:cs typeface="Adobe Clean"/>
              </a:rPr>
              <a:t>address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dirty="0" sz="1950" spc="235">
                <a:latin typeface="Adobe Clean"/>
                <a:cs typeface="Adobe Clean"/>
              </a:rPr>
              <a:t>✓</a:t>
            </a:r>
            <a:r>
              <a:rPr dirty="0" sz="1950" spc="-40">
                <a:latin typeface="Adobe Clean"/>
                <a:cs typeface="Adobe Clean"/>
              </a:rPr>
              <a:t> </a:t>
            </a:r>
            <a:r>
              <a:rPr dirty="0" sz="1950" spc="75">
                <a:latin typeface="Adobe Clean"/>
                <a:cs typeface="Adobe Clean"/>
              </a:rPr>
              <a:t>Inspect</a:t>
            </a:r>
            <a:r>
              <a:rPr dirty="0" sz="1950" spc="-55">
                <a:latin typeface="Adobe Clean"/>
                <a:cs typeface="Adobe Clean"/>
              </a:rPr>
              <a:t> </a:t>
            </a:r>
            <a:r>
              <a:rPr dirty="0" sz="1950" spc="50">
                <a:latin typeface="Adobe Clean"/>
                <a:cs typeface="Adobe Clean"/>
              </a:rPr>
              <a:t>URLs</a:t>
            </a:r>
            <a:r>
              <a:rPr dirty="0" sz="1950" spc="-10">
                <a:latin typeface="Adobe Clean"/>
                <a:cs typeface="Adobe Clean"/>
              </a:rPr>
              <a:t> carefully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dirty="0" sz="1950" spc="235">
                <a:latin typeface="Adobe Clean"/>
                <a:cs typeface="Adobe Clean"/>
              </a:rPr>
              <a:t>✓</a:t>
            </a:r>
            <a:r>
              <a:rPr dirty="0" sz="1950" spc="60">
                <a:latin typeface="Adobe Clean"/>
                <a:cs typeface="Adobe Clean"/>
              </a:rPr>
              <a:t> </a:t>
            </a:r>
            <a:r>
              <a:rPr dirty="0" sz="1950" spc="-20">
                <a:latin typeface="Adobe Clean"/>
                <a:cs typeface="Adobe Clean"/>
              </a:rPr>
              <a:t>Avoid</a:t>
            </a:r>
            <a:r>
              <a:rPr dirty="0" sz="1950" spc="85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unexpected</a:t>
            </a:r>
            <a:r>
              <a:rPr dirty="0" sz="1950" spc="80">
                <a:latin typeface="Adobe Clean"/>
                <a:cs typeface="Adobe Clean"/>
              </a:rPr>
              <a:t> </a:t>
            </a:r>
            <a:r>
              <a:rPr dirty="0" sz="1950" spc="55">
                <a:latin typeface="Adobe Clean"/>
                <a:cs typeface="Adobe Clean"/>
              </a:rPr>
              <a:t>attachments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00660" indent="-187960">
              <a:lnSpc>
                <a:spcPct val="100000"/>
              </a:lnSpc>
              <a:buFont typeface="Arial"/>
              <a:buChar char="•"/>
              <a:tabLst>
                <a:tab pos="200660" algn="l"/>
              </a:tabLst>
            </a:pPr>
            <a:r>
              <a:rPr dirty="0" sz="1950" spc="235">
                <a:latin typeface="Adobe Clean"/>
                <a:cs typeface="Adobe Clean"/>
              </a:rPr>
              <a:t>✓</a:t>
            </a:r>
            <a:r>
              <a:rPr dirty="0" sz="1950" spc="-20">
                <a:latin typeface="Adobe Clean"/>
                <a:cs typeface="Adobe Clean"/>
              </a:rPr>
              <a:t> </a:t>
            </a:r>
            <a:r>
              <a:rPr dirty="0" sz="1950" spc="60">
                <a:latin typeface="Adobe Clean"/>
                <a:cs typeface="Adobe Clean"/>
              </a:rPr>
              <a:t>Be</a:t>
            </a:r>
            <a:r>
              <a:rPr dirty="0" sz="1950" spc="-15">
                <a:latin typeface="Adobe Clean"/>
                <a:cs typeface="Adobe Clean"/>
              </a:rPr>
              <a:t> </a:t>
            </a:r>
            <a:r>
              <a:rPr dirty="0" sz="1950" spc="70">
                <a:latin typeface="Adobe Clean"/>
                <a:cs typeface="Adobe Clean"/>
              </a:rPr>
              <a:t>cautious</a:t>
            </a:r>
            <a:r>
              <a:rPr dirty="0" sz="1950" spc="-15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of</a:t>
            </a:r>
            <a:r>
              <a:rPr dirty="0" sz="1950" spc="-25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urgent</a:t>
            </a:r>
            <a:r>
              <a:rPr dirty="0" sz="1950" spc="-5">
                <a:latin typeface="Adobe Clean"/>
                <a:cs typeface="Adobe Clean"/>
              </a:rPr>
              <a:t> </a:t>
            </a:r>
            <a:r>
              <a:rPr dirty="0" sz="1950" spc="55">
                <a:latin typeface="Adobe Clean"/>
                <a:cs typeface="Adobe Clean"/>
              </a:rPr>
              <a:t>requests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0660" algn="l"/>
              </a:tabLst>
            </a:pPr>
            <a:r>
              <a:rPr dirty="0" sz="1950" spc="235">
                <a:latin typeface="Adobe Clean"/>
                <a:cs typeface="Adobe Clean"/>
              </a:rPr>
              <a:t>✓</a:t>
            </a:r>
            <a:r>
              <a:rPr dirty="0" sz="1950" spc="-35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Verify</a:t>
            </a:r>
            <a:r>
              <a:rPr dirty="0" sz="1950" spc="-60">
                <a:latin typeface="Adobe Clean"/>
                <a:cs typeface="Adobe Clean"/>
              </a:rPr>
              <a:t> </a:t>
            </a:r>
            <a:r>
              <a:rPr dirty="0" sz="1950">
                <a:latin typeface="Adobe Clean"/>
                <a:cs typeface="Adobe Clean"/>
              </a:rPr>
              <a:t>through</a:t>
            </a:r>
            <a:r>
              <a:rPr dirty="0" sz="1950" spc="-20">
                <a:latin typeface="Adobe Clean"/>
                <a:cs typeface="Adobe Clean"/>
              </a:rPr>
              <a:t> </a:t>
            </a:r>
            <a:r>
              <a:rPr dirty="0" sz="1950" spc="60">
                <a:latin typeface="Adobe Clean"/>
                <a:cs typeface="Adobe Clean"/>
              </a:rPr>
              <a:t>official</a:t>
            </a:r>
            <a:r>
              <a:rPr dirty="0" sz="1950" spc="-15">
                <a:latin typeface="Adobe Clean"/>
                <a:cs typeface="Adobe Clean"/>
              </a:rPr>
              <a:t> </a:t>
            </a:r>
            <a:r>
              <a:rPr dirty="0" sz="1950" spc="65">
                <a:latin typeface="Adobe Clean"/>
                <a:cs typeface="Adobe Clean"/>
              </a:rPr>
              <a:t>channels</a:t>
            </a:r>
            <a:endParaRPr sz="19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Font typeface="Arial"/>
              <a:buChar char="•"/>
            </a:pPr>
            <a:endParaRPr sz="1950">
              <a:latin typeface="Adobe Clean"/>
              <a:cs typeface="Adobe Clean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0660" algn="l"/>
              </a:tabLst>
            </a:pPr>
            <a:r>
              <a:rPr dirty="0" sz="1950" spc="235">
                <a:latin typeface="Adobe Clean"/>
                <a:cs typeface="Adobe Clean"/>
              </a:rPr>
              <a:t>✓</a:t>
            </a:r>
            <a:r>
              <a:rPr dirty="0" sz="1950" spc="-5">
                <a:latin typeface="Adobe Clean"/>
                <a:cs typeface="Adobe Clean"/>
              </a:rPr>
              <a:t> </a:t>
            </a:r>
            <a:r>
              <a:rPr dirty="0" sz="1950" spc="80">
                <a:latin typeface="Adobe Clean"/>
                <a:cs typeface="Adobe Clean"/>
              </a:rPr>
              <a:t>Check</a:t>
            </a:r>
            <a:r>
              <a:rPr dirty="0" sz="1950">
                <a:latin typeface="Adobe Clean"/>
                <a:cs typeface="Adobe Clean"/>
              </a:rPr>
              <a:t> grammar</a:t>
            </a:r>
            <a:r>
              <a:rPr dirty="0" sz="1950" spc="-10">
                <a:latin typeface="Adobe Clean"/>
                <a:cs typeface="Adobe Clean"/>
              </a:rPr>
              <a:t> </a:t>
            </a:r>
            <a:r>
              <a:rPr dirty="0" sz="1950" spc="50">
                <a:latin typeface="Adobe Clean"/>
                <a:cs typeface="Adobe Clean"/>
              </a:rPr>
              <a:t>and</a:t>
            </a:r>
            <a:r>
              <a:rPr dirty="0" sz="1950" spc="-10">
                <a:latin typeface="Adobe Clean"/>
                <a:cs typeface="Adobe Clean"/>
              </a:rPr>
              <a:t> spelling</a:t>
            </a:r>
            <a:endParaRPr sz="19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830580">
              <a:lnSpc>
                <a:spcPct val="100000"/>
              </a:lnSpc>
              <a:spcBef>
                <a:spcPts val="135"/>
              </a:spcBef>
            </a:pPr>
            <a:r>
              <a:rPr dirty="0" spc="110"/>
              <a:t>Best</a:t>
            </a:r>
            <a:r>
              <a:rPr dirty="0" spc="-135"/>
              <a:t> </a:t>
            </a:r>
            <a:r>
              <a:rPr dirty="0" spc="85"/>
              <a:t>Security</a:t>
            </a:r>
            <a:r>
              <a:rPr dirty="0" spc="-140"/>
              <a:t> </a:t>
            </a:r>
            <a:r>
              <a:rPr dirty="0" spc="11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049" y="2914865"/>
            <a:ext cx="349186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Enable</a:t>
            </a:r>
            <a:r>
              <a:rPr dirty="0" sz="1450" spc="28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Multi-Factor</a:t>
            </a:r>
            <a:r>
              <a:rPr dirty="0" sz="1450" spc="33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Authentication</a:t>
            </a:r>
            <a:r>
              <a:rPr dirty="0" sz="1450" spc="31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(MFA)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049" y="2299215"/>
            <a:ext cx="7849870" cy="70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787265">
              <a:lnSpc>
                <a:spcPts val="1510"/>
              </a:lnSpc>
              <a:spcBef>
                <a:spcPts val="135"/>
              </a:spcBef>
            </a:pPr>
            <a:r>
              <a:rPr dirty="0" sz="1450" spc="70" b="1">
                <a:latin typeface="Calibri"/>
                <a:cs typeface="Calibri"/>
              </a:rPr>
              <a:t>Organizational</a:t>
            </a:r>
            <a:r>
              <a:rPr dirty="0" sz="1450" spc="-25" b="1">
                <a:latin typeface="Calibri"/>
                <a:cs typeface="Calibri"/>
              </a:rPr>
              <a:t> </a:t>
            </a:r>
            <a:r>
              <a:rPr dirty="0" sz="1450" spc="85" b="1">
                <a:latin typeface="Calibri"/>
                <a:cs typeface="Calibri"/>
              </a:rPr>
              <a:t>Security</a:t>
            </a:r>
            <a:r>
              <a:rPr dirty="0" sz="1450" spc="-20" b="1">
                <a:latin typeface="Calibri"/>
                <a:cs typeface="Calibri"/>
              </a:rPr>
              <a:t> </a:t>
            </a:r>
            <a:r>
              <a:rPr dirty="0" sz="1450" spc="95" b="1">
                <a:latin typeface="Calibri"/>
                <a:cs typeface="Calibri"/>
              </a:rPr>
              <a:t>Practices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ts val="1510"/>
              </a:lnSpc>
            </a:pPr>
            <a:r>
              <a:rPr dirty="0" sz="1450" spc="90" b="1">
                <a:latin typeface="Calibri"/>
                <a:cs typeface="Calibri"/>
              </a:rPr>
              <a:t>Personal</a:t>
            </a:r>
            <a:r>
              <a:rPr dirty="0" sz="1450" spc="-10" b="1">
                <a:latin typeface="Calibri"/>
                <a:cs typeface="Calibri"/>
              </a:rPr>
              <a:t> </a:t>
            </a:r>
            <a:r>
              <a:rPr dirty="0" sz="1450" spc="85" b="1">
                <a:latin typeface="Calibri"/>
                <a:cs typeface="Calibri"/>
              </a:rPr>
              <a:t>Security</a:t>
            </a:r>
            <a:r>
              <a:rPr dirty="0" sz="1450" spc="-10" b="1">
                <a:latin typeface="Calibri"/>
                <a:cs typeface="Calibri"/>
              </a:rPr>
              <a:t> </a:t>
            </a:r>
            <a:r>
              <a:rPr dirty="0" sz="1450" spc="95" b="1">
                <a:latin typeface="Calibri"/>
                <a:cs typeface="Calibri"/>
              </a:rPr>
              <a:t>Practices</a:t>
            </a:r>
            <a:endParaRPr sz="1450">
              <a:latin typeface="Calibri"/>
              <a:cs typeface="Calibri"/>
            </a:endParaRPr>
          </a:p>
          <a:p>
            <a:pPr marL="4913630" indent="-126364">
              <a:lnSpc>
                <a:spcPct val="100000"/>
              </a:lnSpc>
              <a:spcBef>
                <a:spcPts val="540"/>
              </a:spcBef>
              <a:buChar char="•"/>
              <a:tabLst>
                <a:tab pos="4913630" algn="l"/>
              </a:tabLst>
            </a:pPr>
            <a:r>
              <a:rPr dirty="0" sz="1450" spc="60">
                <a:latin typeface="Adobe Clean"/>
                <a:cs typeface="Adobe Clean"/>
              </a:rPr>
              <a:t>Conduct</a:t>
            </a:r>
            <a:r>
              <a:rPr dirty="0" sz="1450" spc="2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regular</a:t>
            </a:r>
            <a:r>
              <a:rPr dirty="0" sz="1450" spc="30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security</a:t>
            </a:r>
            <a:r>
              <a:rPr dirty="0" sz="1450" spc="30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awareness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049" y="3367559"/>
            <a:ext cx="28917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 spc="75">
                <a:latin typeface="Adobe Clean"/>
                <a:cs typeface="Adobe Clean"/>
              </a:rPr>
              <a:t>Use</a:t>
            </a:r>
            <a:r>
              <a:rPr dirty="0" sz="1450" spc="10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strong</a:t>
            </a:r>
            <a:r>
              <a:rPr dirty="0" sz="1450" spc="13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and</a:t>
            </a:r>
            <a:r>
              <a:rPr dirty="0" sz="1450" spc="9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unique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passwords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049" y="3820161"/>
            <a:ext cx="309308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Keep</a:t>
            </a:r>
            <a:r>
              <a:rPr dirty="0" sz="1450" spc="20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software</a:t>
            </a:r>
            <a:r>
              <a:rPr dirty="0" sz="1450" spc="1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and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 spc="75">
                <a:latin typeface="Adobe Clean"/>
                <a:cs typeface="Adobe Clean"/>
              </a:rPr>
              <a:t>systems</a:t>
            </a:r>
            <a:r>
              <a:rPr dirty="0" sz="1450" spc="3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updated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049" y="4272764"/>
            <a:ext cx="246062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 spc="-10">
                <a:latin typeface="Adobe Clean"/>
                <a:cs typeface="Adobe Clean"/>
              </a:rPr>
              <a:t>Avoid</a:t>
            </a:r>
            <a:r>
              <a:rPr dirty="0" sz="1450" spc="9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clicking</a:t>
            </a:r>
            <a:r>
              <a:rPr dirty="0" sz="1450" spc="7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unknown</a:t>
            </a:r>
            <a:r>
              <a:rPr dirty="0" sz="1450" spc="100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links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049" y="4725458"/>
            <a:ext cx="27393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Verify</a:t>
            </a:r>
            <a:r>
              <a:rPr dirty="0" sz="1450" spc="-20">
                <a:latin typeface="Adobe Clean"/>
                <a:cs typeface="Adobe Clean"/>
              </a:rPr>
              <a:t> </a:t>
            </a:r>
            <a:r>
              <a:rPr dirty="0" sz="1450" spc="45">
                <a:latin typeface="Adobe Clean"/>
                <a:cs typeface="Adobe Clean"/>
              </a:rPr>
              <a:t>website</a:t>
            </a:r>
            <a:r>
              <a:rPr dirty="0" sz="1450" spc="10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URLs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before</a:t>
            </a:r>
            <a:r>
              <a:rPr dirty="0" sz="1450" spc="10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login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049" y="5178061"/>
            <a:ext cx="270827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Never</a:t>
            </a:r>
            <a:r>
              <a:rPr dirty="0" sz="1450" spc="-15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share</a:t>
            </a:r>
            <a:r>
              <a:rPr dirty="0" sz="1450" spc="15">
                <a:latin typeface="Adobe Clean"/>
                <a:cs typeface="Adobe Clean"/>
              </a:rPr>
              <a:t> </a:t>
            </a:r>
            <a:r>
              <a:rPr dirty="0" sz="1450" spc="65">
                <a:latin typeface="Adobe Clean"/>
                <a:cs typeface="Adobe Clean"/>
              </a:rPr>
              <a:t>passwords</a:t>
            </a:r>
            <a:r>
              <a:rPr dirty="0" sz="1450" spc="1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or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OTPs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049" y="5630651"/>
            <a:ext cx="214884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 spc="75">
                <a:latin typeface="Adobe Clean"/>
                <a:cs typeface="Adobe Clean"/>
              </a:rPr>
              <a:t>Use</a:t>
            </a:r>
            <a:r>
              <a:rPr dirty="0" sz="1450" spc="-30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password</a:t>
            </a:r>
            <a:r>
              <a:rPr dirty="0" sz="1450" spc="-20">
                <a:latin typeface="Adobe Clean"/>
                <a:cs typeface="Adobe Clean"/>
              </a:rPr>
              <a:t> </a:t>
            </a:r>
            <a:r>
              <a:rPr dirty="0" sz="1450" spc="35">
                <a:latin typeface="Adobe Clean"/>
                <a:cs typeface="Adobe Clean"/>
              </a:rPr>
              <a:t>managers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049" y="6083368"/>
            <a:ext cx="325564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Report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 spc="80">
                <a:latin typeface="Adobe Clean"/>
                <a:cs typeface="Adobe Clean"/>
              </a:rPr>
              <a:t>suspicious</a:t>
            </a:r>
            <a:r>
              <a:rPr dirty="0" sz="1450" spc="-10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emails</a:t>
            </a:r>
            <a:r>
              <a:rPr dirty="0" sz="1450" spc="-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immediately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6747" y="2978903"/>
            <a:ext cx="63309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latin typeface="Adobe Clean"/>
                <a:cs typeface="Adobe Clean"/>
              </a:rPr>
              <a:t>training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6747" y="3431505"/>
            <a:ext cx="297688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Implement</a:t>
            </a:r>
            <a:r>
              <a:rPr dirty="0" sz="1450" spc="16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email</a:t>
            </a:r>
            <a:r>
              <a:rPr dirty="0" sz="1450" spc="17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filtering</a:t>
            </a:r>
            <a:r>
              <a:rPr dirty="0" sz="1450" spc="170">
                <a:latin typeface="Adobe Clean"/>
                <a:cs typeface="Adobe Clean"/>
              </a:rPr>
              <a:t> </a:t>
            </a:r>
            <a:r>
              <a:rPr dirty="0" sz="1450" spc="40">
                <a:latin typeface="Adobe Clean"/>
                <a:cs typeface="Adobe Clean"/>
              </a:rPr>
              <a:t>solutions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16747" y="3884199"/>
            <a:ext cx="2375535" cy="47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6364">
              <a:lnSpc>
                <a:spcPct val="102099"/>
              </a:lnSpc>
              <a:spcBef>
                <a:spcPts val="100"/>
              </a:spcBef>
              <a:buChar char="•"/>
              <a:tabLst>
                <a:tab pos="139065" algn="l"/>
              </a:tabLst>
            </a:pPr>
            <a:r>
              <a:rPr dirty="0" sz="1450" spc="65">
                <a:latin typeface="Adobe Clean"/>
                <a:cs typeface="Adobe Clean"/>
              </a:rPr>
              <a:t>Establish</a:t>
            </a:r>
            <a:r>
              <a:rPr dirty="0" sz="1450" spc="85">
                <a:latin typeface="Adobe Clean"/>
                <a:cs typeface="Adobe Clean"/>
              </a:rPr>
              <a:t> </a:t>
            </a:r>
            <a:r>
              <a:rPr dirty="0" sz="1450" spc="10">
                <a:latin typeface="Adobe Clean"/>
                <a:cs typeface="Adobe Clean"/>
              </a:rPr>
              <a:t>incident</a:t>
            </a:r>
            <a:r>
              <a:rPr dirty="0" sz="1450" spc="8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reporting </a:t>
            </a:r>
            <a:r>
              <a:rPr dirty="0" sz="1450" spc="35">
                <a:latin typeface="Adobe Clean"/>
                <a:cs typeface="Adobe Clean"/>
              </a:rPr>
              <a:t>procedures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6747" y="4562318"/>
            <a:ext cx="30060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Apply</a:t>
            </a:r>
            <a:r>
              <a:rPr dirty="0" sz="1450" spc="-30">
                <a:latin typeface="Adobe Clean"/>
                <a:cs typeface="Adobe Clean"/>
              </a:rPr>
              <a:t> </a:t>
            </a:r>
            <a:r>
              <a:rPr dirty="0" sz="1450" spc="65">
                <a:latin typeface="Adobe Clean"/>
                <a:cs typeface="Adobe Clean"/>
              </a:rPr>
              <a:t>least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privilege</a:t>
            </a:r>
            <a:r>
              <a:rPr dirty="0" sz="1450" spc="-20">
                <a:latin typeface="Adobe Clean"/>
                <a:cs typeface="Adobe Clean"/>
              </a:rPr>
              <a:t> </a:t>
            </a:r>
            <a:r>
              <a:rPr dirty="0" sz="1450" spc="120">
                <a:latin typeface="Adobe Clean"/>
                <a:cs typeface="Adobe Clean"/>
              </a:rPr>
              <a:t>access</a:t>
            </a:r>
            <a:r>
              <a:rPr dirty="0" sz="145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control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16747" y="5015012"/>
            <a:ext cx="264033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Perform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regular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security</a:t>
            </a:r>
            <a:r>
              <a:rPr dirty="0" sz="1450" spc="65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audits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6747" y="5467615"/>
            <a:ext cx="200152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Maintain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data</a:t>
            </a:r>
            <a:r>
              <a:rPr dirty="0" sz="1450" spc="80">
                <a:latin typeface="Adobe Clean"/>
                <a:cs typeface="Adobe Clean"/>
              </a:rPr>
              <a:t> </a:t>
            </a:r>
            <a:r>
              <a:rPr dirty="0" sz="1450" spc="55">
                <a:latin typeface="Adobe Clean"/>
                <a:cs typeface="Adobe Clean"/>
              </a:rPr>
              <a:t>backups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6747" y="5920217"/>
            <a:ext cx="228727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Enforce</a:t>
            </a:r>
            <a:r>
              <a:rPr dirty="0" sz="1450" spc="135">
                <a:latin typeface="Adobe Clean"/>
                <a:cs typeface="Adobe Clean"/>
              </a:rPr>
              <a:t> </a:t>
            </a:r>
            <a:r>
              <a:rPr dirty="0" sz="1450" spc="50">
                <a:latin typeface="Adobe Clean"/>
                <a:cs typeface="Adobe Clean"/>
              </a:rPr>
              <a:t>password</a:t>
            </a:r>
            <a:r>
              <a:rPr dirty="0" sz="1450" spc="125">
                <a:latin typeface="Adobe Clean"/>
                <a:cs typeface="Adobe Clean"/>
              </a:rPr>
              <a:t> </a:t>
            </a:r>
            <a:r>
              <a:rPr dirty="0" sz="1450" spc="45">
                <a:latin typeface="Adobe Clean"/>
                <a:cs typeface="Adobe Clean"/>
              </a:rPr>
              <a:t>policies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16747" y="6372935"/>
            <a:ext cx="247396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135"/>
              </a:spcBef>
              <a:buChar char="•"/>
              <a:tabLst>
                <a:tab pos="139065" algn="l"/>
              </a:tabLst>
            </a:pPr>
            <a:r>
              <a:rPr dirty="0" sz="1450">
                <a:latin typeface="Adobe Clean"/>
                <a:cs typeface="Adobe Clean"/>
              </a:rPr>
              <a:t>Monitor</a:t>
            </a:r>
            <a:r>
              <a:rPr dirty="0" sz="1450" spc="-30">
                <a:latin typeface="Adobe Clean"/>
                <a:cs typeface="Adobe Clean"/>
              </a:rPr>
              <a:t> </a:t>
            </a:r>
            <a:r>
              <a:rPr dirty="0" sz="1450" spc="80">
                <a:latin typeface="Adobe Clean"/>
                <a:cs typeface="Adobe Clean"/>
              </a:rPr>
              <a:t>suspicious</a:t>
            </a:r>
            <a:r>
              <a:rPr dirty="0" sz="1450" spc="-60">
                <a:latin typeface="Adobe Clean"/>
                <a:cs typeface="Adobe Clean"/>
              </a:rPr>
              <a:t> </a:t>
            </a:r>
            <a:r>
              <a:rPr dirty="0" sz="1450" spc="40">
                <a:latin typeface="Adobe Clean"/>
                <a:cs typeface="Adobe Clean"/>
              </a:rPr>
              <a:t>activities</a:t>
            </a:r>
            <a:endParaRPr sz="14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1792605">
              <a:lnSpc>
                <a:spcPct val="100000"/>
              </a:lnSpc>
              <a:spcBef>
                <a:spcPts val="135"/>
              </a:spcBef>
            </a:pPr>
            <a:r>
              <a:rPr dirty="0"/>
              <a:t>Interactive</a:t>
            </a:r>
            <a:r>
              <a:rPr dirty="0" spc="15"/>
              <a:t> </a:t>
            </a:r>
            <a:r>
              <a:rPr dirty="0" spc="40"/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357" y="2573545"/>
            <a:ext cx="91122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>
                <a:latin typeface="Adobe Clean"/>
                <a:cs typeface="Adobe Clean"/>
              </a:rPr>
              <a:t>Question</a:t>
            </a:r>
            <a:r>
              <a:rPr dirty="0" sz="1450" spc="235">
                <a:latin typeface="Adobe Clean"/>
                <a:cs typeface="Adobe Clean"/>
              </a:rPr>
              <a:t> </a:t>
            </a:r>
            <a:r>
              <a:rPr dirty="0" sz="1450" spc="265">
                <a:latin typeface="Adobe Clean"/>
                <a:cs typeface="Adobe Clean"/>
              </a:rPr>
              <a:t>1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57" y="3026147"/>
            <a:ext cx="3308350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Adobe Clean"/>
                <a:cs typeface="Adobe Clean"/>
              </a:rPr>
              <a:t>An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email</a:t>
            </a:r>
            <a:r>
              <a:rPr dirty="0" sz="1450" spc="-10">
                <a:latin typeface="Adobe Clean"/>
                <a:cs typeface="Adobe Clean"/>
              </a:rPr>
              <a:t> </a:t>
            </a:r>
            <a:r>
              <a:rPr dirty="0" sz="1450" spc="95">
                <a:latin typeface="Adobe Clean"/>
                <a:cs typeface="Adobe Clean"/>
              </a:rPr>
              <a:t>says</a:t>
            </a:r>
            <a:r>
              <a:rPr dirty="0" sz="1450" spc="1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your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 spc="65">
                <a:latin typeface="Adobe Clean"/>
                <a:cs typeface="Adobe Clean"/>
              </a:rPr>
              <a:t>account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will</a:t>
            </a:r>
            <a:r>
              <a:rPr dirty="0" sz="1450" spc="-10">
                <a:latin typeface="Adobe Clean"/>
                <a:cs typeface="Adobe Clean"/>
              </a:rPr>
              <a:t> </a:t>
            </a:r>
            <a:r>
              <a:rPr dirty="0" sz="1450" spc="-25">
                <a:latin typeface="Adobe Clean"/>
                <a:cs typeface="Adobe Clean"/>
              </a:rPr>
              <a:t>be </a:t>
            </a:r>
            <a:r>
              <a:rPr dirty="0" sz="1450" spc="60">
                <a:latin typeface="Adobe Clean"/>
                <a:cs typeface="Adobe Clean"/>
              </a:rPr>
              <a:t>suspended</a:t>
            </a:r>
            <a:r>
              <a:rPr dirty="0" sz="1450" spc="2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within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 spc="325">
                <a:latin typeface="Adobe Clean"/>
                <a:cs typeface="Adobe Clean"/>
              </a:rPr>
              <a:t>1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hour</a:t>
            </a:r>
            <a:r>
              <a:rPr dirty="0" sz="1450" spc="2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and</a:t>
            </a:r>
            <a:r>
              <a:rPr dirty="0" sz="1450" spc="40">
                <a:latin typeface="Adobe Clean"/>
                <a:cs typeface="Adobe Clean"/>
              </a:rPr>
              <a:t> </a:t>
            </a:r>
            <a:r>
              <a:rPr dirty="0" sz="1450" spc="90">
                <a:latin typeface="Adobe Clean"/>
                <a:cs typeface="Adobe Clean"/>
              </a:rPr>
              <a:t>asks</a:t>
            </a:r>
            <a:r>
              <a:rPr dirty="0" sz="1450" spc="5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you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 spc="-25">
                <a:latin typeface="Adobe Clean"/>
                <a:cs typeface="Adobe Clean"/>
              </a:rPr>
              <a:t>to </a:t>
            </a:r>
            <a:r>
              <a:rPr dirty="0" sz="1450" spc="60">
                <a:latin typeface="Adobe Clean"/>
                <a:cs typeface="Adobe Clean"/>
              </a:rPr>
              <a:t>click</a:t>
            </a:r>
            <a:r>
              <a:rPr dirty="0" sz="1450" spc="-35">
                <a:latin typeface="Adobe Clean"/>
                <a:cs typeface="Adobe Clean"/>
              </a:rPr>
              <a:t> </a:t>
            </a:r>
            <a:r>
              <a:rPr dirty="0" sz="1450" spc="80">
                <a:latin typeface="Adobe Clean"/>
                <a:cs typeface="Adobe Clean"/>
              </a:rPr>
              <a:t>a</a:t>
            </a:r>
            <a:r>
              <a:rPr dirty="0" sz="1450">
                <a:latin typeface="Adobe Clean"/>
                <a:cs typeface="Adobe Clean"/>
              </a:rPr>
              <a:t> link</a:t>
            </a:r>
            <a:r>
              <a:rPr dirty="0" sz="1450" spc="-5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immediately.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357" y="3931444"/>
            <a:ext cx="1128395" cy="479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35"/>
              </a:spcBef>
              <a:buAutoNum type="alphaUcPeriod"/>
              <a:tabLst>
                <a:tab pos="219710" algn="l"/>
              </a:tabLst>
            </a:pPr>
            <a:r>
              <a:rPr dirty="0" sz="1450" spc="50">
                <a:latin typeface="Adobe Clean"/>
                <a:cs typeface="Adobe Clean"/>
              </a:rPr>
              <a:t>Safe</a:t>
            </a:r>
            <a:endParaRPr sz="1450">
              <a:latin typeface="Adobe Clean"/>
              <a:cs typeface="Adobe Clean"/>
            </a:endParaRPr>
          </a:p>
          <a:p>
            <a:pPr marL="212090" indent="-199390">
              <a:lnSpc>
                <a:spcPct val="100000"/>
              </a:lnSpc>
              <a:spcBef>
                <a:spcPts val="50"/>
              </a:spcBef>
              <a:buAutoNum type="alphaUcPeriod"/>
              <a:tabLst>
                <a:tab pos="212090" algn="l"/>
              </a:tabLst>
            </a:pPr>
            <a:r>
              <a:rPr dirty="0" sz="1450" spc="65">
                <a:latin typeface="Adobe Clean"/>
                <a:cs typeface="Adobe Clean"/>
              </a:rPr>
              <a:t>Suspicious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2735" y="2462263"/>
            <a:ext cx="91122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>
                <a:latin typeface="Adobe Clean"/>
                <a:cs typeface="Adobe Clean"/>
              </a:rPr>
              <a:t>Question</a:t>
            </a:r>
            <a:r>
              <a:rPr dirty="0" sz="1450" spc="235">
                <a:latin typeface="Adobe Clean"/>
                <a:cs typeface="Adobe Clean"/>
              </a:rPr>
              <a:t> </a:t>
            </a:r>
            <a:r>
              <a:rPr dirty="0" sz="1450" spc="15">
                <a:latin typeface="Adobe Clean"/>
                <a:cs typeface="Adobe Clean"/>
              </a:rPr>
              <a:t>2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735" y="2914865"/>
            <a:ext cx="2190750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 spc="50">
                <a:latin typeface="Adobe Clean"/>
                <a:cs typeface="Adobe Clean"/>
              </a:rPr>
              <a:t>What</a:t>
            </a:r>
            <a:r>
              <a:rPr dirty="0" sz="1450" spc="2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should</a:t>
            </a:r>
            <a:r>
              <a:rPr dirty="0" sz="1450" spc="5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you</a:t>
            </a:r>
            <a:r>
              <a:rPr dirty="0" sz="1450" spc="50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do</a:t>
            </a:r>
            <a:r>
              <a:rPr dirty="0" sz="1450" spc="35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before </a:t>
            </a:r>
            <a:r>
              <a:rPr dirty="0" sz="1450" spc="10">
                <a:latin typeface="Adobe Clean"/>
                <a:cs typeface="Adobe Clean"/>
              </a:rPr>
              <a:t>clicking </a:t>
            </a:r>
            <a:r>
              <a:rPr dirty="0" sz="1450" spc="80">
                <a:latin typeface="Adobe Clean"/>
                <a:cs typeface="Adobe Clean"/>
              </a:rPr>
              <a:t>a</a:t>
            </a:r>
            <a:r>
              <a:rPr dirty="0" sz="1450" spc="15">
                <a:latin typeface="Adobe Clean"/>
                <a:cs typeface="Adobe Clean"/>
              </a:rPr>
              <a:t> </a:t>
            </a:r>
            <a:r>
              <a:rPr dirty="0" sz="1450" spc="10">
                <a:latin typeface="Adobe Clean"/>
                <a:cs typeface="Adobe Clean"/>
              </a:rPr>
              <a:t>link</a:t>
            </a:r>
            <a:r>
              <a:rPr dirty="0" sz="1450" spc="5">
                <a:latin typeface="Adobe Clean"/>
                <a:cs typeface="Adobe Clean"/>
              </a:rPr>
              <a:t> </a:t>
            </a:r>
            <a:r>
              <a:rPr dirty="0" sz="1450" spc="10">
                <a:latin typeface="Adobe Clean"/>
                <a:cs typeface="Adobe Clean"/>
              </a:rPr>
              <a:t>in</a:t>
            </a:r>
            <a:r>
              <a:rPr dirty="0" sz="1450">
                <a:latin typeface="Adobe Clean"/>
                <a:cs typeface="Adobe Clean"/>
              </a:rPr>
              <a:t> </a:t>
            </a:r>
            <a:r>
              <a:rPr dirty="0" sz="1450" spc="60">
                <a:latin typeface="Adobe Clean"/>
                <a:cs typeface="Adobe Clean"/>
              </a:rPr>
              <a:t>an</a:t>
            </a:r>
            <a:r>
              <a:rPr dirty="0" sz="1450" spc="15">
                <a:latin typeface="Adobe Clean"/>
                <a:cs typeface="Adobe Clean"/>
              </a:rPr>
              <a:t> </a:t>
            </a:r>
            <a:r>
              <a:rPr dirty="0" sz="1450" spc="40">
                <a:latin typeface="Adobe Clean"/>
                <a:cs typeface="Adobe Clean"/>
              </a:rPr>
              <a:t>email?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2735" y="3594645"/>
            <a:ext cx="1698625" cy="478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35"/>
              </a:spcBef>
              <a:buAutoNum type="alphaUcPeriod"/>
              <a:tabLst>
                <a:tab pos="219710" algn="l"/>
              </a:tabLst>
            </a:pPr>
            <a:r>
              <a:rPr dirty="0" sz="1450" spc="60">
                <a:latin typeface="Adobe Clean"/>
                <a:cs typeface="Adobe Clean"/>
              </a:rPr>
              <a:t>Click</a:t>
            </a:r>
            <a:r>
              <a:rPr dirty="0" sz="1450" spc="-5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immediately</a:t>
            </a:r>
            <a:endParaRPr sz="1450">
              <a:latin typeface="Adobe Clean"/>
              <a:cs typeface="Adobe Clean"/>
            </a:endParaRPr>
          </a:p>
          <a:p>
            <a:pPr marL="212090" indent="-199390">
              <a:lnSpc>
                <a:spcPct val="100000"/>
              </a:lnSpc>
              <a:spcBef>
                <a:spcPts val="35"/>
              </a:spcBef>
              <a:buAutoNum type="alphaUcPeriod"/>
              <a:tabLst>
                <a:tab pos="212090" algn="l"/>
              </a:tabLst>
            </a:pPr>
            <a:r>
              <a:rPr dirty="0" sz="1450">
                <a:latin typeface="Adobe Clean"/>
                <a:cs typeface="Adobe Clean"/>
              </a:rPr>
              <a:t>Verify the</a:t>
            </a:r>
            <a:r>
              <a:rPr dirty="0" sz="1450" spc="50">
                <a:latin typeface="Adobe Clean"/>
                <a:cs typeface="Adobe Clean"/>
              </a:rPr>
              <a:t> </a:t>
            </a:r>
            <a:r>
              <a:rPr dirty="0" sz="1450" spc="-25">
                <a:latin typeface="Adobe Clean"/>
                <a:cs typeface="Adobe Clean"/>
              </a:rPr>
              <a:t>URL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7260" y="2575021"/>
            <a:ext cx="91122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>
                <a:latin typeface="Adobe Clean"/>
                <a:cs typeface="Adobe Clean"/>
              </a:rPr>
              <a:t>Question</a:t>
            </a:r>
            <a:r>
              <a:rPr dirty="0" sz="1450" spc="235">
                <a:latin typeface="Adobe Clean"/>
                <a:cs typeface="Adobe Clean"/>
              </a:rPr>
              <a:t> </a:t>
            </a:r>
            <a:r>
              <a:rPr dirty="0" sz="1450" spc="-60">
                <a:latin typeface="Adobe Clean"/>
                <a:cs typeface="Adobe Clean"/>
              </a:rPr>
              <a:t>3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27260" y="3027715"/>
            <a:ext cx="21424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50">
                <a:latin typeface="Adobe Clean"/>
                <a:cs typeface="Adobe Clean"/>
              </a:rPr>
              <a:t>What</a:t>
            </a:r>
            <a:r>
              <a:rPr dirty="0" sz="1450" spc="-55">
                <a:latin typeface="Adobe Clean"/>
                <a:cs typeface="Adobe Clean"/>
              </a:rPr>
              <a:t> </a:t>
            </a:r>
            <a:r>
              <a:rPr dirty="0" sz="1450" spc="60">
                <a:latin typeface="Adobe Clean"/>
                <a:cs typeface="Adobe Clean"/>
              </a:rPr>
              <a:t>does</a:t>
            </a:r>
            <a:r>
              <a:rPr dirty="0" sz="1450" spc="-30">
                <a:latin typeface="Adobe Clean"/>
                <a:cs typeface="Adobe Clean"/>
              </a:rPr>
              <a:t> </a:t>
            </a:r>
            <a:r>
              <a:rPr dirty="0" sz="1450" spc="-50">
                <a:latin typeface="Adobe Clean"/>
                <a:cs typeface="Adobe Clean"/>
              </a:rPr>
              <a:t>MFA</a:t>
            </a:r>
            <a:r>
              <a:rPr dirty="0" sz="1450" spc="-30">
                <a:latin typeface="Adobe Clean"/>
                <a:cs typeface="Adobe Clean"/>
              </a:rPr>
              <a:t> </a:t>
            </a:r>
            <a:r>
              <a:rPr dirty="0" sz="1450" spc="65">
                <a:latin typeface="Adobe Clean"/>
                <a:cs typeface="Adobe Clean"/>
              </a:rPr>
              <a:t>stand</a:t>
            </a:r>
            <a:r>
              <a:rPr dirty="0" sz="1450" spc="-35">
                <a:latin typeface="Adobe Clean"/>
                <a:cs typeface="Adobe Clean"/>
              </a:rPr>
              <a:t> </a:t>
            </a:r>
            <a:r>
              <a:rPr dirty="0" sz="1450" spc="-20">
                <a:latin typeface="Adobe Clean"/>
                <a:cs typeface="Adobe Clean"/>
              </a:rPr>
              <a:t>for?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27260" y="3480318"/>
            <a:ext cx="2469515" cy="479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9710" indent="-207010">
              <a:lnSpc>
                <a:spcPct val="100000"/>
              </a:lnSpc>
              <a:spcBef>
                <a:spcPts val="135"/>
              </a:spcBef>
              <a:buAutoNum type="alphaUcPeriod"/>
              <a:tabLst>
                <a:tab pos="219710" algn="l"/>
              </a:tabLst>
            </a:pPr>
            <a:r>
              <a:rPr dirty="0" sz="1450">
                <a:latin typeface="Adobe Clean"/>
                <a:cs typeface="Adobe Clean"/>
              </a:rPr>
              <a:t>Multi-Factor</a:t>
            </a:r>
            <a:r>
              <a:rPr dirty="0" sz="1450" spc="290">
                <a:latin typeface="Adobe Clean"/>
                <a:cs typeface="Adobe Clean"/>
              </a:rPr>
              <a:t> </a:t>
            </a:r>
            <a:r>
              <a:rPr dirty="0" sz="1450" spc="-10">
                <a:latin typeface="Adobe Clean"/>
                <a:cs typeface="Adobe Clean"/>
              </a:rPr>
              <a:t>Authentication</a:t>
            </a:r>
            <a:endParaRPr sz="1450">
              <a:latin typeface="Adobe Clean"/>
              <a:cs typeface="Adobe Clean"/>
            </a:endParaRPr>
          </a:p>
          <a:p>
            <a:pPr marL="212090" indent="-199390">
              <a:lnSpc>
                <a:spcPct val="100000"/>
              </a:lnSpc>
              <a:spcBef>
                <a:spcPts val="50"/>
              </a:spcBef>
              <a:buAutoNum type="alphaUcPeriod"/>
              <a:tabLst>
                <a:tab pos="212090" algn="l"/>
              </a:tabLst>
            </a:pPr>
            <a:r>
              <a:rPr dirty="0" sz="1450">
                <a:latin typeface="Adobe Clean"/>
                <a:cs typeface="Adobe Clean"/>
              </a:rPr>
              <a:t>Multiple</a:t>
            </a:r>
            <a:r>
              <a:rPr dirty="0" sz="1450" spc="55">
                <a:latin typeface="Adobe Clean"/>
                <a:cs typeface="Adobe Clean"/>
              </a:rPr>
              <a:t> </a:t>
            </a:r>
            <a:r>
              <a:rPr dirty="0" sz="1450">
                <a:latin typeface="Adobe Clean"/>
                <a:cs typeface="Adobe Clean"/>
              </a:rPr>
              <a:t>File</a:t>
            </a:r>
            <a:r>
              <a:rPr dirty="0" sz="1450" spc="105">
                <a:latin typeface="Adobe Clean"/>
                <a:cs typeface="Adobe Clean"/>
              </a:rPr>
              <a:t> </a:t>
            </a:r>
            <a:r>
              <a:rPr dirty="0" sz="1450" spc="85">
                <a:latin typeface="Adobe Clean"/>
                <a:cs typeface="Adobe Clean"/>
              </a:rPr>
              <a:t>Access</a:t>
            </a:r>
            <a:endParaRPr sz="1450">
              <a:latin typeface="Adobe Clean"/>
              <a:cs typeface="Adobe Cle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42555" y="6258573"/>
            <a:ext cx="181737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>
                <a:latin typeface="Adobe Clean"/>
                <a:cs typeface="Adobe Clean"/>
              </a:rPr>
              <a:t>Answers: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 spc="155">
                <a:latin typeface="Adobe Clean"/>
                <a:cs typeface="Adobe Clean"/>
              </a:rPr>
              <a:t>1-</a:t>
            </a:r>
            <a:r>
              <a:rPr dirty="0" sz="1450" spc="70">
                <a:latin typeface="Adobe Clean"/>
                <a:cs typeface="Adobe Clean"/>
              </a:rPr>
              <a:t>B,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 spc="10">
                <a:latin typeface="Adobe Clean"/>
                <a:cs typeface="Adobe Clean"/>
              </a:rPr>
              <a:t>2-</a:t>
            </a:r>
            <a:r>
              <a:rPr dirty="0" sz="1450" spc="70">
                <a:latin typeface="Adobe Clean"/>
                <a:cs typeface="Adobe Clean"/>
              </a:rPr>
              <a:t>B,</a:t>
            </a:r>
            <a:r>
              <a:rPr dirty="0" sz="1450" spc="60">
                <a:latin typeface="Adobe Clean"/>
                <a:cs typeface="Adobe Clean"/>
              </a:rPr>
              <a:t> </a:t>
            </a:r>
            <a:r>
              <a:rPr dirty="0" sz="1450" spc="10">
                <a:latin typeface="Adobe Clean"/>
                <a:cs typeface="Adobe Clean"/>
              </a:rPr>
              <a:t>3-</a:t>
            </a:r>
            <a:r>
              <a:rPr dirty="0" sz="1450" spc="-50">
                <a:latin typeface="Adobe Clean"/>
                <a:cs typeface="Adobe Clean"/>
              </a:rPr>
              <a:t>A</a:t>
            </a:r>
            <a:endParaRPr sz="1450">
              <a:latin typeface="Adobe Clean"/>
              <a:cs typeface="Adobe Cle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846" rIns="0" bIns="0" rtlCol="0" vert="horz">
            <a:spAutoFit/>
          </a:bodyPr>
          <a:lstStyle/>
          <a:p>
            <a:pPr marL="2204085">
              <a:lnSpc>
                <a:spcPct val="100000"/>
              </a:lnSpc>
              <a:spcBef>
                <a:spcPts val="135"/>
              </a:spcBef>
            </a:pPr>
            <a:r>
              <a:rPr dirty="0" spc="114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93" y="2299198"/>
            <a:ext cx="6193790" cy="4201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01930" algn="l"/>
              </a:tabLst>
            </a:pPr>
            <a:r>
              <a:rPr dirty="0" sz="1650" spc="65" b="1">
                <a:latin typeface="Calibri"/>
                <a:cs typeface="Calibri"/>
              </a:rPr>
              <a:t>Key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 spc="40" b="1">
                <a:latin typeface="Calibri"/>
                <a:cs typeface="Calibri"/>
              </a:rPr>
              <a:t>Takeaways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Arial"/>
              <a:buChar char="•"/>
            </a:pPr>
            <a:endParaRPr sz="1650">
              <a:latin typeface="Calibri"/>
              <a:cs typeface="Calibri"/>
            </a:endParaRPr>
          </a:p>
          <a:p>
            <a:pPr marL="243840" indent="-231140">
              <a:lnSpc>
                <a:spcPct val="100000"/>
              </a:lnSpc>
              <a:buFont typeface="Arial"/>
              <a:buChar char="•"/>
              <a:tabLst>
                <a:tab pos="243840" algn="l"/>
              </a:tabLst>
            </a:pPr>
            <a:r>
              <a:rPr dirty="0" sz="1650">
                <a:latin typeface="Adobe Clean"/>
                <a:cs typeface="Adobe Clean"/>
              </a:rPr>
              <a:t>Phishing</a:t>
            </a:r>
            <a:r>
              <a:rPr dirty="0" sz="1650" spc="10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targets</a:t>
            </a:r>
            <a:r>
              <a:rPr dirty="0" sz="1650" spc="15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human</a:t>
            </a:r>
            <a:r>
              <a:rPr dirty="0" sz="1650" spc="114">
                <a:latin typeface="Adobe Clean"/>
                <a:cs typeface="Adobe Clean"/>
              </a:rPr>
              <a:t> </a:t>
            </a:r>
            <a:r>
              <a:rPr dirty="0" sz="1650" spc="-10">
                <a:latin typeface="Adobe Clean"/>
                <a:cs typeface="Adobe Clean"/>
              </a:rPr>
              <a:t>behavior</a:t>
            </a:r>
            <a:endParaRPr sz="16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Arial"/>
              <a:buChar char="•"/>
            </a:pPr>
            <a:endParaRPr sz="1650">
              <a:latin typeface="Adobe Clean"/>
              <a:cs typeface="Adobe Clean"/>
            </a:endParaRPr>
          </a:p>
          <a:p>
            <a:pPr marL="243840" indent="-231140">
              <a:lnSpc>
                <a:spcPct val="100000"/>
              </a:lnSpc>
              <a:buFont typeface="Arial"/>
              <a:buChar char="•"/>
              <a:tabLst>
                <a:tab pos="243840" algn="l"/>
              </a:tabLst>
            </a:pPr>
            <a:r>
              <a:rPr dirty="0" sz="1650">
                <a:latin typeface="Adobe Clean"/>
                <a:cs typeface="Adobe Clean"/>
              </a:rPr>
              <a:t>Attackers</a:t>
            </a:r>
            <a:r>
              <a:rPr dirty="0" sz="1650" spc="50">
                <a:latin typeface="Adobe Clean"/>
                <a:cs typeface="Adobe Clean"/>
              </a:rPr>
              <a:t> </a:t>
            </a:r>
            <a:r>
              <a:rPr dirty="0" sz="1650" spc="80">
                <a:latin typeface="Adobe Clean"/>
                <a:cs typeface="Adobe Clean"/>
              </a:rPr>
              <a:t>use</a:t>
            </a:r>
            <a:r>
              <a:rPr dirty="0" sz="1650" spc="7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urgency</a:t>
            </a:r>
            <a:r>
              <a:rPr dirty="0" sz="1650" spc="35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and</a:t>
            </a:r>
            <a:r>
              <a:rPr dirty="0" sz="1650" spc="55">
                <a:latin typeface="Adobe Clean"/>
                <a:cs typeface="Adobe Clean"/>
              </a:rPr>
              <a:t> </a:t>
            </a:r>
            <a:r>
              <a:rPr dirty="0" sz="1650" spc="-10">
                <a:latin typeface="Adobe Clean"/>
                <a:cs typeface="Adobe Clean"/>
              </a:rPr>
              <a:t>deception</a:t>
            </a:r>
            <a:endParaRPr sz="16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buFont typeface="Arial"/>
              <a:buChar char="•"/>
            </a:pPr>
            <a:endParaRPr sz="1650">
              <a:latin typeface="Adobe Clean"/>
              <a:cs typeface="Adobe Clean"/>
            </a:endParaRPr>
          </a:p>
          <a:p>
            <a:pPr marL="243840" indent="-231140">
              <a:lnSpc>
                <a:spcPct val="100000"/>
              </a:lnSpc>
              <a:buFont typeface="Arial"/>
              <a:buChar char="•"/>
              <a:tabLst>
                <a:tab pos="243840" algn="l"/>
              </a:tabLst>
            </a:pPr>
            <a:r>
              <a:rPr dirty="0" sz="1650">
                <a:latin typeface="Adobe Clean"/>
                <a:cs typeface="Adobe Clean"/>
              </a:rPr>
              <a:t>Always</a:t>
            </a:r>
            <a:r>
              <a:rPr dirty="0" sz="1650" spc="4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verify </a:t>
            </a:r>
            <a:r>
              <a:rPr dirty="0" sz="1650" spc="60">
                <a:latin typeface="Adobe Clean"/>
                <a:cs typeface="Adobe Clean"/>
              </a:rPr>
              <a:t>emails,</a:t>
            </a:r>
            <a:r>
              <a:rPr dirty="0" sz="1650" spc="4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links,</a:t>
            </a:r>
            <a:r>
              <a:rPr dirty="0" sz="1650" spc="60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and</a:t>
            </a:r>
            <a:r>
              <a:rPr dirty="0" sz="1650" spc="45">
                <a:latin typeface="Adobe Clean"/>
                <a:cs typeface="Adobe Clean"/>
              </a:rPr>
              <a:t> </a:t>
            </a:r>
            <a:r>
              <a:rPr dirty="0" sz="1650" spc="40">
                <a:latin typeface="Adobe Clean"/>
                <a:cs typeface="Adobe Clean"/>
              </a:rPr>
              <a:t>requests</a:t>
            </a:r>
            <a:endParaRPr sz="16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Font typeface="Arial"/>
              <a:buChar char="•"/>
            </a:pPr>
            <a:endParaRPr sz="1650">
              <a:latin typeface="Adobe Clean"/>
              <a:cs typeface="Adobe Clean"/>
            </a:endParaRPr>
          </a:p>
          <a:p>
            <a:pPr marL="243840" indent="-231140">
              <a:lnSpc>
                <a:spcPct val="100000"/>
              </a:lnSpc>
              <a:buFont typeface="Arial"/>
              <a:buChar char="•"/>
              <a:tabLst>
                <a:tab pos="243840" algn="l"/>
              </a:tabLst>
            </a:pPr>
            <a:r>
              <a:rPr dirty="0" sz="1650">
                <a:latin typeface="Adobe Clean"/>
                <a:cs typeface="Adobe Clean"/>
              </a:rPr>
              <a:t>Security</a:t>
            </a:r>
            <a:r>
              <a:rPr dirty="0" sz="1650" spc="65">
                <a:latin typeface="Adobe Clean"/>
                <a:cs typeface="Adobe Clean"/>
              </a:rPr>
              <a:t> </a:t>
            </a:r>
            <a:r>
              <a:rPr dirty="0" sz="1650" spc="55">
                <a:latin typeface="Adobe Clean"/>
                <a:cs typeface="Adobe Clean"/>
              </a:rPr>
              <a:t>awareness</a:t>
            </a:r>
            <a:r>
              <a:rPr dirty="0" sz="1650" spc="60">
                <a:latin typeface="Adobe Clean"/>
                <a:cs typeface="Adobe Clean"/>
              </a:rPr>
              <a:t> </a:t>
            </a:r>
            <a:r>
              <a:rPr dirty="0" sz="1650" spc="50">
                <a:latin typeface="Adobe Clean"/>
                <a:cs typeface="Adobe Clean"/>
              </a:rPr>
              <a:t>reduces</a:t>
            </a:r>
            <a:r>
              <a:rPr dirty="0" sz="1650" spc="60">
                <a:latin typeface="Adobe Clean"/>
                <a:cs typeface="Adobe Clean"/>
              </a:rPr>
              <a:t> </a:t>
            </a:r>
            <a:r>
              <a:rPr dirty="0" sz="1650" spc="-20">
                <a:latin typeface="Adobe Clean"/>
                <a:cs typeface="Adobe Clean"/>
              </a:rPr>
              <a:t>risk</a:t>
            </a:r>
            <a:endParaRPr sz="16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buFont typeface="Arial"/>
              <a:buChar char="•"/>
            </a:pPr>
            <a:endParaRPr sz="1650">
              <a:latin typeface="Adobe Clean"/>
              <a:cs typeface="Adobe Clean"/>
            </a:endParaRPr>
          </a:p>
          <a:p>
            <a:pPr marL="243840" indent="-231140">
              <a:lnSpc>
                <a:spcPct val="100000"/>
              </a:lnSpc>
              <a:buFont typeface="Arial"/>
              <a:buChar char="•"/>
              <a:tabLst>
                <a:tab pos="243840" algn="l"/>
              </a:tabLst>
            </a:pPr>
            <a:r>
              <a:rPr dirty="0" sz="1650">
                <a:latin typeface="Adobe Clean"/>
                <a:cs typeface="Adobe Clean"/>
              </a:rPr>
              <a:t>Small</a:t>
            </a:r>
            <a:r>
              <a:rPr dirty="0" sz="1650" spc="145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precautions</a:t>
            </a:r>
            <a:r>
              <a:rPr dirty="0" sz="1650" spc="135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prevent</a:t>
            </a:r>
            <a:r>
              <a:rPr dirty="0" sz="1650" spc="114">
                <a:latin typeface="Adobe Clean"/>
                <a:cs typeface="Adobe Clean"/>
              </a:rPr>
              <a:t> </a:t>
            </a:r>
            <a:r>
              <a:rPr dirty="0" sz="1650">
                <a:latin typeface="Adobe Clean"/>
                <a:cs typeface="Adobe Clean"/>
              </a:rPr>
              <a:t>major</a:t>
            </a:r>
            <a:r>
              <a:rPr dirty="0" sz="1650" spc="135">
                <a:latin typeface="Adobe Clean"/>
                <a:cs typeface="Adobe Clean"/>
              </a:rPr>
              <a:t> </a:t>
            </a:r>
            <a:r>
              <a:rPr dirty="0" sz="1650" spc="-10">
                <a:latin typeface="Adobe Clean"/>
                <a:cs typeface="Adobe Clean"/>
              </a:rPr>
              <a:t>incidents</a:t>
            </a:r>
            <a:endParaRPr sz="1650">
              <a:latin typeface="Adobe Clean"/>
              <a:cs typeface="Adobe Cle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650">
              <a:latin typeface="Adobe Clean"/>
              <a:cs typeface="Adobe Clean"/>
            </a:endParaRPr>
          </a:p>
          <a:p>
            <a:pPr marL="2954020">
              <a:lnSpc>
                <a:spcPct val="100000"/>
              </a:lnSpc>
            </a:pPr>
            <a:r>
              <a:rPr dirty="0" sz="2300" spc="80" b="1">
                <a:latin typeface="Calibri"/>
                <a:cs typeface="Calibri"/>
              </a:rPr>
              <a:t>Think</a:t>
            </a:r>
            <a:r>
              <a:rPr dirty="0" sz="2300" spc="-60" b="1">
                <a:latin typeface="Calibri"/>
                <a:cs typeface="Calibri"/>
              </a:rPr>
              <a:t> </a:t>
            </a:r>
            <a:r>
              <a:rPr dirty="0" sz="2300" spc="75" b="1">
                <a:latin typeface="Calibri"/>
                <a:cs typeface="Calibri"/>
              </a:rPr>
              <a:t>Before</a:t>
            </a:r>
            <a:r>
              <a:rPr dirty="0" sz="2300" spc="-65" b="1">
                <a:latin typeface="Calibri"/>
                <a:cs typeface="Calibri"/>
              </a:rPr>
              <a:t> </a:t>
            </a:r>
            <a:r>
              <a:rPr dirty="0" sz="2300" spc="50" b="1">
                <a:latin typeface="Calibri"/>
                <a:cs typeface="Calibri"/>
              </a:rPr>
              <a:t>You</a:t>
            </a:r>
            <a:r>
              <a:rPr dirty="0" sz="2300" spc="-55" b="1">
                <a:latin typeface="Calibri"/>
                <a:cs typeface="Calibri"/>
              </a:rPr>
              <a:t> </a:t>
            </a:r>
            <a:r>
              <a:rPr dirty="0" sz="2300" spc="180" b="1">
                <a:latin typeface="Calibri"/>
                <a:cs typeface="Calibri"/>
              </a:rPr>
              <a:t>Click</a:t>
            </a:r>
            <a:endParaRPr sz="2300">
              <a:latin typeface="Calibri"/>
              <a:cs typeface="Calibri"/>
            </a:endParaRPr>
          </a:p>
          <a:p>
            <a:pPr marL="2954020">
              <a:lnSpc>
                <a:spcPct val="100000"/>
              </a:lnSpc>
              <a:spcBef>
                <a:spcPts val="1735"/>
              </a:spcBef>
            </a:pPr>
            <a:r>
              <a:rPr dirty="0" sz="1450" spc="95" b="1">
                <a:latin typeface="Calibri"/>
                <a:cs typeface="Calibri"/>
              </a:rPr>
              <a:t>Awareness</a:t>
            </a:r>
            <a:r>
              <a:rPr dirty="0" sz="1450" spc="-50" b="1">
                <a:latin typeface="Calibri"/>
                <a:cs typeface="Calibri"/>
              </a:rPr>
              <a:t> </a:t>
            </a:r>
            <a:r>
              <a:rPr dirty="0" sz="1450" spc="110" b="1">
                <a:latin typeface="Calibri"/>
                <a:cs typeface="Calibri"/>
              </a:rPr>
              <a:t>is</a:t>
            </a:r>
            <a:r>
              <a:rPr dirty="0" sz="1450" spc="-15" b="1">
                <a:latin typeface="Calibri"/>
                <a:cs typeface="Calibri"/>
              </a:rPr>
              <a:t> </a:t>
            </a:r>
            <a:r>
              <a:rPr dirty="0" sz="1450" spc="65" b="1">
                <a:latin typeface="Calibri"/>
                <a:cs typeface="Calibri"/>
              </a:rPr>
              <a:t>the</a:t>
            </a:r>
            <a:r>
              <a:rPr dirty="0" sz="1450" spc="-35" b="1">
                <a:latin typeface="Calibri"/>
                <a:cs typeface="Calibri"/>
              </a:rPr>
              <a:t> </a:t>
            </a:r>
            <a:r>
              <a:rPr dirty="0" sz="1450" spc="75" b="1">
                <a:latin typeface="Calibri"/>
                <a:cs typeface="Calibri"/>
              </a:rPr>
              <a:t>First</a:t>
            </a:r>
            <a:r>
              <a:rPr dirty="0" sz="1450" spc="-45" b="1">
                <a:latin typeface="Calibri"/>
                <a:cs typeface="Calibri"/>
              </a:rPr>
              <a:t> </a:t>
            </a:r>
            <a:r>
              <a:rPr dirty="0" sz="1450" spc="90" b="1">
                <a:latin typeface="Calibri"/>
                <a:cs typeface="Calibri"/>
              </a:rPr>
              <a:t>Line</a:t>
            </a:r>
            <a:r>
              <a:rPr dirty="0" sz="1450" spc="-20" b="1">
                <a:latin typeface="Calibri"/>
                <a:cs typeface="Calibri"/>
              </a:rPr>
              <a:t> </a:t>
            </a:r>
            <a:r>
              <a:rPr dirty="0" sz="1450" spc="50" b="1">
                <a:latin typeface="Calibri"/>
                <a:cs typeface="Calibri"/>
              </a:rPr>
              <a:t>of</a:t>
            </a:r>
            <a:r>
              <a:rPr dirty="0" sz="1450" spc="-15" b="1">
                <a:latin typeface="Calibri"/>
                <a:cs typeface="Calibri"/>
              </a:rPr>
              <a:t> </a:t>
            </a:r>
            <a:r>
              <a:rPr dirty="0" sz="1450" spc="90" b="1">
                <a:latin typeface="Calibri"/>
                <a:cs typeface="Calibri"/>
              </a:rPr>
              <a:t>Defense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Phishing_Awareness_Training.pptx</dc:title>
  <dcterms:created xsi:type="dcterms:W3CDTF">2026-06-18T09:30:52Z</dcterms:created>
  <dcterms:modified xsi:type="dcterms:W3CDTF">2026-06-18T09:30:52Z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2026-06-18T00:00:00Z</vt:filetime>
  </property>
  <property fmtid="{D5CDD505-2E9C-101B-9397-08002B2CF9AE}" pid="3" name="LastSaved">
    <vt:filetime>2026-06-18T00:00:00Z</vt:filetime>
  </property>
  <property fmtid="{D5CDD505-2E9C-101B-9397-08002B2CF9AE}" pid="4" name="Producer">
    <vt:lpwstr>Microsoft: Print To PDF</vt:lpwstr>
  </property>
</Properties>
</file>